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lang="en-US" sz="1800" b="0" u="none" strike="noStrike">
                <a:solidFill>
                  <a:schemeClr val="dk1"/>
                </a:solidFill>
                <a:effectLst/>
                <a:uFillTx/>
                <a:latin typeface="Calibri"/>
              </a:rPr>
              <a:t>Click to move the </a:t>
            </a:r>
            <a:r>
              <a:rPr lang="en-US" sz="1800" b="0" u="none" strike="noStrike">
                <a:solidFill>
                  <a:schemeClr val="dk1"/>
                </a:solidFill>
                <a:effectLst/>
                <a:uFillTx/>
                <a:latin typeface="Calibri"/>
              </a:rPr>
              <a:t>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Arial"/>
              </a:rPr>
              <a:t>Click to edit the </a:t>
            </a:r>
            <a:r>
              <a:rPr lang="en-US" sz="2000" b="0" u="none" strike="noStrike">
                <a:solidFill>
                  <a:srgbClr val="000000"/>
                </a:solidFill>
                <a:effectLst/>
                <a:uFillTx/>
                <a:latin typeface="Arial"/>
              </a:rPr>
              <a:t>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F060C89-7667-440F-A355-4CE60290E7E3}"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sldImg"/>
          </p:nvPr>
        </p:nvSpPr>
        <p:spPr>
          <a:xfrm>
            <a:off x="685800" y="1143000"/>
            <a:ext cx="5486040" cy="3085920"/>
          </a:xfrm>
          <a:prstGeom prst="rect">
            <a:avLst/>
          </a:prstGeom>
          <a:ln w="0">
            <a:noFill/>
          </a:ln>
        </p:spPr>
      </p:sp>
      <p:sp>
        <p:nvSpPr>
          <p:cNvPr id="31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20"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750A51-C8E9-4E3A-B2A6-DC490DC9D71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685800" y="1143000"/>
            <a:ext cx="5486040" cy="3085920"/>
          </a:xfrm>
          <a:prstGeom prst="rect">
            <a:avLst/>
          </a:prstGeom>
          <a:ln w="0">
            <a:noFill/>
          </a:ln>
        </p:spPr>
      </p:sp>
      <p:sp>
        <p:nvSpPr>
          <p:cNvPr id="32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23"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D78268-2500-4670-AE78-3538D23B849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sldImg"/>
          </p:nvPr>
        </p:nvSpPr>
        <p:spPr>
          <a:xfrm>
            <a:off x="685800" y="1143000"/>
            <a:ext cx="5486040" cy="3085920"/>
          </a:xfrm>
          <a:prstGeom prst="rect">
            <a:avLst/>
          </a:prstGeom>
          <a:ln w="0">
            <a:noFill/>
          </a:ln>
        </p:spPr>
      </p:sp>
      <p:sp>
        <p:nvSpPr>
          <p:cNvPr id="32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26"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DFFDE06-3E2F-4AF9-A3B0-AC7EB66C023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sldImg"/>
          </p:nvPr>
        </p:nvSpPr>
        <p:spPr>
          <a:xfrm>
            <a:off x="685800" y="1143000"/>
            <a:ext cx="5486040" cy="3085920"/>
          </a:xfrm>
          <a:prstGeom prst="rect">
            <a:avLst/>
          </a:prstGeom>
          <a:ln w="0">
            <a:noFill/>
          </a:ln>
        </p:spPr>
      </p:sp>
      <p:sp>
        <p:nvSpPr>
          <p:cNvPr id="32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29"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1A6A62B-4904-4D74-8962-C5A8CD672DF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sldImg"/>
          </p:nvPr>
        </p:nvSpPr>
        <p:spPr>
          <a:xfrm>
            <a:off x="685800" y="1143000"/>
            <a:ext cx="5486040" cy="3085920"/>
          </a:xfrm>
          <a:prstGeom prst="rect">
            <a:avLst/>
          </a:prstGeom>
          <a:ln w="0">
            <a:noFill/>
          </a:ln>
        </p:spPr>
      </p:sp>
      <p:sp>
        <p:nvSpPr>
          <p:cNvPr id="33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32"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2C903F2-8D6E-42F5-8247-B653C817180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sldImg"/>
          </p:nvPr>
        </p:nvSpPr>
        <p:spPr>
          <a:xfrm>
            <a:off x="685800" y="1143000"/>
            <a:ext cx="5486040" cy="3085920"/>
          </a:xfrm>
          <a:prstGeom prst="rect">
            <a:avLst/>
          </a:prstGeom>
          <a:ln w="0">
            <a:noFill/>
          </a:ln>
        </p:spPr>
      </p:sp>
      <p:sp>
        <p:nvSpPr>
          <p:cNvPr id="3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35"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1F5640-B802-4DE1-90BB-14A2C35F86F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685800" y="1143000"/>
            <a:ext cx="5486040" cy="3085920"/>
          </a:xfrm>
          <a:prstGeom prst="rect">
            <a:avLst/>
          </a:prstGeom>
          <a:ln w="0">
            <a:noFill/>
          </a:ln>
        </p:spPr>
      </p:sp>
      <p:sp>
        <p:nvSpPr>
          <p:cNvPr id="33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38"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D62B3B8-D059-4474-A4B2-9424D48FE5B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sldImg"/>
          </p:nvPr>
        </p:nvSpPr>
        <p:spPr>
          <a:xfrm>
            <a:off x="685800" y="1143000"/>
            <a:ext cx="5486040" cy="3085920"/>
          </a:xfrm>
          <a:prstGeom prst="rect">
            <a:avLst/>
          </a:prstGeom>
          <a:ln w="0">
            <a:noFill/>
          </a:ln>
        </p:spPr>
      </p:sp>
      <p:sp>
        <p:nvSpPr>
          <p:cNvPr id="34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41"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7BE0955-28E3-4328-A1BD-5B10E1EF817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lang="en-US" sz="1800" b="0" u="none" strike="noStrike">
                <a:solidFill>
                  <a:schemeClr val="dk1"/>
                </a:solidFill>
                <a:effectLst/>
                <a:uFillTx/>
                <a:latin typeface="Calibri"/>
              </a:rPr>
              <a:t>Click to edit the </a:t>
            </a:r>
            <a:r>
              <a:rPr lang="en-US" sz="1800" b="0" u="none" strike="noStrike">
                <a:solidFill>
                  <a:schemeClr val="dk1"/>
                </a:solidFill>
                <a:effectLst/>
                <a:uFillTx/>
                <a:latin typeface="Calibri"/>
              </a:rPr>
              <a:t>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10" name="Shape 0"/>
          <p:cNvSpPr/>
          <p:nvPr/>
        </p:nvSpPr>
        <p:spPr>
          <a:xfrm>
            <a:off x="0" y="0"/>
            <a:ext cx="54360" cy="5143320"/>
          </a:xfrm>
          <a:prstGeom prst="rect">
            <a:avLst/>
          </a:prstGeom>
          <a:solidFill>
            <a:srgbClr val="028090"/>
          </a:solidFill>
          <a:ln w="12700">
            <a:solidFill>
              <a:srgbClr val="028090"/>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1" name="Shape 1"/>
          <p:cNvSpPr/>
          <p:nvPr/>
        </p:nvSpPr>
        <p:spPr>
          <a:xfrm>
            <a:off x="5943600" y="2743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12" name="Shape 2"/>
          <p:cNvSpPr/>
          <p:nvPr/>
        </p:nvSpPr>
        <p:spPr>
          <a:xfrm>
            <a:off x="6346080" y="2743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13" name="Shape 3"/>
          <p:cNvSpPr/>
          <p:nvPr/>
        </p:nvSpPr>
        <p:spPr>
          <a:xfrm>
            <a:off x="6748200" y="2743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14" name="Shape 4"/>
          <p:cNvSpPr/>
          <p:nvPr/>
        </p:nvSpPr>
        <p:spPr>
          <a:xfrm>
            <a:off x="7150680" y="2743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15" name="Shape 5"/>
          <p:cNvSpPr/>
          <p:nvPr/>
        </p:nvSpPr>
        <p:spPr>
          <a:xfrm>
            <a:off x="7552800" y="2743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16" name="Shape 6"/>
          <p:cNvSpPr/>
          <p:nvPr/>
        </p:nvSpPr>
        <p:spPr>
          <a:xfrm>
            <a:off x="7955280" y="2743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17" name="Shape 7"/>
          <p:cNvSpPr/>
          <p:nvPr/>
        </p:nvSpPr>
        <p:spPr>
          <a:xfrm>
            <a:off x="8357760" y="2743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18" name="Shape 8"/>
          <p:cNvSpPr/>
          <p:nvPr/>
        </p:nvSpPr>
        <p:spPr>
          <a:xfrm>
            <a:off x="8759880" y="2743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19" name="Shape 9"/>
          <p:cNvSpPr/>
          <p:nvPr/>
        </p:nvSpPr>
        <p:spPr>
          <a:xfrm>
            <a:off x="5943600" y="67680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20" name="Shape 10"/>
          <p:cNvSpPr/>
          <p:nvPr/>
        </p:nvSpPr>
        <p:spPr>
          <a:xfrm>
            <a:off x="6346080" y="67680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21" name="Shape 11"/>
          <p:cNvSpPr/>
          <p:nvPr/>
        </p:nvSpPr>
        <p:spPr>
          <a:xfrm>
            <a:off x="6748200" y="67680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22" name="Shape 12"/>
          <p:cNvSpPr/>
          <p:nvPr/>
        </p:nvSpPr>
        <p:spPr>
          <a:xfrm>
            <a:off x="7150680" y="67680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23" name="Shape 13"/>
          <p:cNvSpPr/>
          <p:nvPr/>
        </p:nvSpPr>
        <p:spPr>
          <a:xfrm>
            <a:off x="7552800" y="67680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24" name="Shape 14"/>
          <p:cNvSpPr/>
          <p:nvPr/>
        </p:nvSpPr>
        <p:spPr>
          <a:xfrm>
            <a:off x="7955280" y="67680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25" name="Shape 15"/>
          <p:cNvSpPr/>
          <p:nvPr/>
        </p:nvSpPr>
        <p:spPr>
          <a:xfrm>
            <a:off x="8357760" y="67680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26" name="Shape 16"/>
          <p:cNvSpPr/>
          <p:nvPr/>
        </p:nvSpPr>
        <p:spPr>
          <a:xfrm>
            <a:off x="8759880" y="67680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27" name="Shape 17"/>
          <p:cNvSpPr/>
          <p:nvPr/>
        </p:nvSpPr>
        <p:spPr>
          <a:xfrm>
            <a:off x="5943600" y="10789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28" name="Shape 18"/>
          <p:cNvSpPr/>
          <p:nvPr/>
        </p:nvSpPr>
        <p:spPr>
          <a:xfrm>
            <a:off x="6346080" y="10789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29" name="Shape 19"/>
          <p:cNvSpPr/>
          <p:nvPr/>
        </p:nvSpPr>
        <p:spPr>
          <a:xfrm>
            <a:off x="6748200" y="10789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30" name="Shape 20"/>
          <p:cNvSpPr/>
          <p:nvPr/>
        </p:nvSpPr>
        <p:spPr>
          <a:xfrm>
            <a:off x="7150680" y="10789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31" name="Shape 21"/>
          <p:cNvSpPr/>
          <p:nvPr/>
        </p:nvSpPr>
        <p:spPr>
          <a:xfrm>
            <a:off x="7552800" y="10789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32" name="Shape 22"/>
          <p:cNvSpPr/>
          <p:nvPr/>
        </p:nvSpPr>
        <p:spPr>
          <a:xfrm>
            <a:off x="7955280" y="10789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33" name="Shape 23"/>
          <p:cNvSpPr/>
          <p:nvPr/>
        </p:nvSpPr>
        <p:spPr>
          <a:xfrm>
            <a:off x="8357760" y="10789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34" name="Shape 24"/>
          <p:cNvSpPr/>
          <p:nvPr/>
        </p:nvSpPr>
        <p:spPr>
          <a:xfrm>
            <a:off x="8759880" y="10789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35" name="Shape 25"/>
          <p:cNvSpPr/>
          <p:nvPr/>
        </p:nvSpPr>
        <p:spPr>
          <a:xfrm>
            <a:off x="5943600" y="148140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36" name="Shape 26"/>
          <p:cNvSpPr/>
          <p:nvPr/>
        </p:nvSpPr>
        <p:spPr>
          <a:xfrm>
            <a:off x="6346080" y="148140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37" name="Shape 27"/>
          <p:cNvSpPr/>
          <p:nvPr/>
        </p:nvSpPr>
        <p:spPr>
          <a:xfrm>
            <a:off x="6748200" y="148140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38" name="Shape 28"/>
          <p:cNvSpPr/>
          <p:nvPr/>
        </p:nvSpPr>
        <p:spPr>
          <a:xfrm>
            <a:off x="7150680" y="148140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39" name="Shape 29"/>
          <p:cNvSpPr/>
          <p:nvPr/>
        </p:nvSpPr>
        <p:spPr>
          <a:xfrm>
            <a:off x="7552800" y="148140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40" name="Shape 30"/>
          <p:cNvSpPr/>
          <p:nvPr/>
        </p:nvSpPr>
        <p:spPr>
          <a:xfrm>
            <a:off x="7955280" y="148140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41" name="Shape 31"/>
          <p:cNvSpPr/>
          <p:nvPr/>
        </p:nvSpPr>
        <p:spPr>
          <a:xfrm>
            <a:off x="8357760" y="148140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42" name="Shape 32"/>
          <p:cNvSpPr/>
          <p:nvPr/>
        </p:nvSpPr>
        <p:spPr>
          <a:xfrm>
            <a:off x="8759880" y="148140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43" name="Shape 33"/>
          <p:cNvSpPr/>
          <p:nvPr/>
        </p:nvSpPr>
        <p:spPr>
          <a:xfrm>
            <a:off x="5943600" y="18835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44" name="Shape 34"/>
          <p:cNvSpPr/>
          <p:nvPr/>
        </p:nvSpPr>
        <p:spPr>
          <a:xfrm>
            <a:off x="6346080" y="18835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45" name="Shape 35"/>
          <p:cNvSpPr/>
          <p:nvPr/>
        </p:nvSpPr>
        <p:spPr>
          <a:xfrm>
            <a:off x="6748200" y="18835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46" name="Shape 36"/>
          <p:cNvSpPr/>
          <p:nvPr/>
        </p:nvSpPr>
        <p:spPr>
          <a:xfrm>
            <a:off x="7150680" y="18835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47" name="Shape 37"/>
          <p:cNvSpPr/>
          <p:nvPr/>
        </p:nvSpPr>
        <p:spPr>
          <a:xfrm>
            <a:off x="7552800" y="18835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48" name="Shape 38"/>
          <p:cNvSpPr/>
          <p:nvPr/>
        </p:nvSpPr>
        <p:spPr>
          <a:xfrm>
            <a:off x="7955280" y="18835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49" name="Shape 39"/>
          <p:cNvSpPr/>
          <p:nvPr/>
        </p:nvSpPr>
        <p:spPr>
          <a:xfrm>
            <a:off x="8357760" y="18835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50" name="Shape 40"/>
          <p:cNvSpPr/>
          <p:nvPr/>
        </p:nvSpPr>
        <p:spPr>
          <a:xfrm>
            <a:off x="8759880" y="1883520"/>
            <a:ext cx="54360" cy="54360"/>
          </a:xfrm>
          <a:prstGeom prst="ellipse">
            <a:avLst/>
          </a:prstGeom>
          <a:solidFill>
            <a:srgbClr val="014f5c"/>
          </a:solidFill>
          <a:ln w="12700">
            <a:solidFill>
              <a:srgbClr val="014f5c"/>
            </a:solidFill>
            <a:round/>
          </a:ln>
        </p:spPr>
        <p:style>
          <a:lnRef idx="0"/>
          <a:fillRef idx="0"/>
          <a:effectRef idx="0"/>
          <a:fontRef idx="minor"/>
        </p:style>
        <p:txBody>
          <a:bodyPr lIns="90000" rIns="90000" tIns="-6480" bIns="-6480" anchor="t">
            <a:noAutofit/>
          </a:bodyPr>
          <a:p>
            <a:endParaRPr lang="en-US" sz="1800" b="0" u="none" strike="noStrike">
              <a:solidFill>
                <a:srgbClr val="ffffff"/>
              </a:solidFill>
              <a:effectLst/>
              <a:uFillTx/>
              <a:latin typeface="Arial"/>
            </a:endParaRPr>
          </a:p>
        </p:txBody>
      </p:sp>
      <p:sp>
        <p:nvSpPr>
          <p:cNvPr id="51" name="Text 41"/>
          <p:cNvSpPr/>
          <p:nvPr/>
        </p:nvSpPr>
        <p:spPr>
          <a:xfrm>
            <a:off x="457200" y="1097280"/>
            <a:ext cx="64004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500" b="0" u="none" strike="noStrike">
                <a:solidFill>
                  <a:srgbClr val="028090"/>
                </a:solidFill>
                <a:effectLst/>
                <a:uFillTx/>
                <a:latin typeface="Calibri"/>
              </a:rPr>
              <a:t>Strategic Technology</a:t>
            </a:r>
            <a:endParaRPr lang="en-US" sz="1500" b="0" u="none" strike="noStrike">
              <a:solidFill>
                <a:srgbClr val="ffffff"/>
              </a:solidFill>
              <a:effectLst/>
              <a:uFillTx/>
              <a:latin typeface="Arial"/>
            </a:endParaRPr>
          </a:p>
        </p:txBody>
      </p:sp>
      <p:sp>
        <p:nvSpPr>
          <p:cNvPr id="52" name="Text 42"/>
          <p:cNvSpPr/>
          <p:nvPr/>
        </p:nvSpPr>
        <p:spPr>
          <a:xfrm>
            <a:off x="457200" y="1508760"/>
            <a:ext cx="777204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4400" b="1" u="none" strike="noStrike">
                <a:solidFill>
                  <a:srgbClr val="ffffff"/>
                </a:solidFill>
                <a:effectLst/>
                <a:uFillTx/>
                <a:latin typeface="Calibri"/>
              </a:rPr>
              <a:t>Investment Review</a:t>
            </a:r>
            <a:endParaRPr lang="en-US" sz="4400" b="0" u="none" strike="noStrike">
              <a:solidFill>
                <a:srgbClr val="ffffff"/>
              </a:solidFill>
              <a:effectLst/>
              <a:uFillTx/>
              <a:latin typeface="Arial"/>
            </a:endParaRPr>
          </a:p>
        </p:txBody>
      </p:sp>
      <p:sp>
        <p:nvSpPr>
          <p:cNvPr id="53" name="Text 43"/>
          <p:cNvSpPr/>
          <p:nvPr/>
        </p:nvSpPr>
        <p:spPr>
          <a:xfrm>
            <a:off x="457200" y="2606040"/>
            <a:ext cx="64004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00" b="0" u="none" strike="noStrike">
                <a:solidFill>
                  <a:srgbClr val="8b949e"/>
                </a:solidFill>
                <a:effectLst/>
                <a:uFillTx/>
                <a:latin typeface="Calibri"/>
              </a:rPr>
              <a:t>Three projects evaluated across scalability, moat, and time-to-value</a:t>
            </a:r>
            <a:endParaRPr lang="en-US" sz="1400" b="0" u="none" strike="noStrike">
              <a:solidFill>
                <a:srgbClr val="ffffff"/>
              </a:solidFill>
              <a:effectLst/>
              <a:uFillTx/>
              <a:latin typeface="Arial"/>
            </a:endParaRPr>
          </a:p>
        </p:txBody>
      </p:sp>
      <p:sp>
        <p:nvSpPr>
          <p:cNvPr id="54" name="Shape 44"/>
          <p:cNvSpPr/>
          <p:nvPr/>
        </p:nvSpPr>
        <p:spPr>
          <a:xfrm>
            <a:off x="457200" y="3246120"/>
            <a:ext cx="3840120" cy="292320"/>
          </a:xfrm>
          <a:prstGeom prst="roundRect">
            <a:avLst>
              <a:gd name="adj" fmla="val 18750"/>
            </a:avLst>
          </a:prstGeom>
          <a:solidFill>
            <a:srgbClr val="028090">
              <a:alpha val="18000"/>
            </a:srgbClr>
          </a:solidFill>
          <a:ln w="6350">
            <a:solidFill>
              <a:srgbClr val="028090"/>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5" name="Text 45"/>
          <p:cNvSpPr/>
          <p:nvPr/>
        </p:nvSpPr>
        <p:spPr>
          <a:xfrm>
            <a:off x="548640" y="3246120"/>
            <a:ext cx="3657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028090"/>
                </a:solidFill>
                <a:effectLst/>
                <a:uFillTx/>
                <a:latin typeface="Calibri"/>
              </a:rPr>
              <a:t>P1  Cluster-pretrained deep models</a:t>
            </a:r>
            <a:endParaRPr lang="en-US" sz="1100" b="0" u="none" strike="noStrike">
              <a:solidFill>
                <a:srgbClr val="ffffff"/>
              </a:solidFill>
              <a:effectLst/>
              <a:uFillTx/>
              <a:latin typeface="Arial"/>
            </a:endParaRPr>
          </a:p>
        </p:txBody>
      </p:sp>
      <p:sp>
        <p:nvSpPr>
          <p:cNvPr id="56" name="Shape 46"/>
          <p:cNvSpPr/>
          <p:nvPr/>
        </p:nvSpPr>
        <p:spPr>
          <a:xfrm>
            <a:off x="457200" y="3630240"/>
            <a:ext cx="3840120" cy="292320"/>
          </a:xfrm>
          <a:prstGeom prst="roundRect">
            <a:avLst>
              <a:gd name="adj" fmla="val 18750"/>
            </a:avLst>
          </a:prstGeom>
          <a:solidFill>
            <a:srgbClr val="8b5cf6">
              <a:alpha val="18000"/>
            </a:srgbClr>
          </a:solidFill>
          <a:ln w="6350">
            <a:solidFill>
              <a:srgbClr val="8b5cf6"/>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7" name="Text 47"/>
          <p:cNvSpPr/>
          <p:nvPr/>
        </p:nvSpPr>
        <p:spPr>
          <a:xfrm>
            <a:off x="548640" y="3630240"/>
            <a:ext cx="3657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8b5cf6"/>
                </a:solidFill>
                <a:effectLst/>
                <a:uFillTx/>
                <a:latin typeface="Calibri"/>
              </a:rPr>
              <a:t>P2  Causal embedding v2</a:t>
            </a:r>
            <a:endParaRPr lang="en-US" sz="1100" b="0" u="none" strike="noStrike">
              <a:solidFill>
                <a:srgbClr val="ffffff"/>
              </a:solidFill>
              <a:effectLst/>
              <a:uFillTx/>
              <a:latin typeface="Arial"/>
            </a:endParaRPr>
          </a:p>
        </p:txBody>
      </p:sp>
      <p:sp>
        <p:nvSpPr>
          <p:cNvPr id="58" name="Shape 48"/>
          <p:cNvSpPr/>
          <p:nvPr/>
        </p:nvSpPr>
        <p:spPr>
          <a:xfrm>
            <a:off x="457200" y="4014360"/>
            <a:ext cx="3840120" cy="292320"/>
          </a:xfrm>
          <a:prstGeom prst="roundRect">
            <a:avLst>
              <a:gd name="adj" fmla="val 18750"/>
            </a:avLst>
          </a:prstGeom>
          <a:solidFill>
            <a:srgbClr val="e8a838">
              <a:alpha val="18000"/>
            </a:srgbClr>
          </a:solidFill>
          <a:ln w="6350">
            <a:solidFill>
              <a:srgbClr val="e8a838"/>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59" name="Text 49"/>
          <p:cNvSpPr/>
          <p:nvPr/>
        </p:nvSpPr>
        <p:spPr>
          <a:xfrm>
            <a:off x="548640" y="4014360"/>
            <a:ext cx="3657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e8a838"/>
                </a:solidFill>
                <a:effectLst/>
                <a:uFillTx/>
                <a:latin typeface="Calibri"/>
              </a:rPr>
              <a:t>P3  Mathematical scenario engine</a:t>
            </a:r>
            <a:endParaRPr lang="en-US" sz="1100" b="0" u="none" strike="noStrike">
              <a:solidFill>
                <a:srgbClr val="ffffff"/>
              </a:solidFill>
              <a:effectLst/>
              <a:uFillTx/>
              <a:latin typeface="Arial"/>
            </a:endParaRPr>
          </a:p>
        </p:txBody>
      </p:sp>
      <p:sp>
        <p:nvSpPr>
          <p:cNvPr id="60" name="Text 50"/>
          <p:cNvSpPr/>
          <p:nvPr/>
        </p:nvSpPr>
        <p:spPr>
          <a:xfrm>
            <a:off x="457200" y="4754880"/>
            <a:ext cx="36572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8b949e"/>
                </a:solidFill>
                <a:effectLst/>
                <a:uFillTx/>
                <a:latin typeface="Calibri"/>
              </a:rPr>
              <a:t>Sybilion · May 2026</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61" name="Shape 0"/>
          <p:cNvSpPr/>
          <p:nvPr/>
        </p:nvSpPr>
        <p:spPr>
          <a:xfrm>
            <a:off x="365760" y="713160"/>
            <a:ext cx="36360" cy="273960"/>
          </a:xfrm>
          <a:prstGeom prst="rect">
            <a:avLst/>
          </a:prstGeom>
          <a:solidFill>
            <a:srgbClr val="028090"/>
          </a:solidFill>
          <a:ln w="12700">
            <a:solidFill>
              <a:srgbClr val="028090"/>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62" name="Text 1"/>
          <p:cNvSpPr/>
          <p:nvPr/>
        </p:nvSpPr>
        <p:spPr>
          <a:xfrm>
            <a:off x="475560" y="685800"/>
            <a:ext cx="457164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028090"/>
                </a:solidFill>
                <a:effectLst/>
                <a:uFillTx/>
                <a:latin typeface="Calibri"/>
              </a:rPr>
              <a:t>Project 1</a:t>
            </a:r>
            <a:endParaRPr lang="en-US" sz="1100" b="0" u="none" strike="noStrike">
              <a:solidFill>
                <a:srgbClr val="ffffff"/>
              </a:solidFill>
              <a:effectLst/>
              <a:uFillTx/>
              <a:latin typeface="Arial"/>
            </a:endParaRPr>
          </a:p>
        </p:txBody>
      </p:sp>
      <p:sp>
        <p:nvSpPr>
          <p:cNvPr id="63" name="Text 2"/>
          <p:cNvSpPr/>
          <p:nvPr/>
        </p:nvSpPr>
        <p:spPr>
          <a:xfrm>
            <a:off x="365760" y="960120"/>
            <a:ext cx="841212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rPr>
              <a:t>Cluster-Pretrained Deep Models</a:t>
            </a:r>
            <a:endParaRPr lang="en-US" sz="2800" b="0" u="none" strike="noStrike">
              <a:solidFill>
                <a:srgbClr val="ffffff"/>
              </a:solidFill>
              <a:effectLst/>
              <a:uFillTx/>
              <a:latin typeface="Arial"/>
            </a:endParaRPr>
          </a:p>
        </p:txBody>
      </p:sp>
      <p:sp>
        <p:nvSpPr>
          <p:cNvPr id="64" name="Shape 3"/>
          <p:cNvSpPr/>
          <p:nvPr/>
        </p:nvSpPr>
        <p:spPr>
          <a:xfrm>
            <a:off x="365760" y="1554480"/>
            <a:ext cx="8412120" cy="658080"/>
          </a:xfrm>
          <a:prstGeom prst="rect">
            <a:avLst/>
          </a:prstGeom>
          <a:solidFill>
            <a:srgbClr val="161b22"/>
          </a:solidFill>
          <a:ln w="6350">
            <a:solidFill>
              <a:srgbClr val="028090"/>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65" name="Shape 4"/>
          <p:cNvSpPr/>
          <p:nvPr/>
        </p:nvSpPr>
        <p:spPr>
          <a:xfrm>
            <a:off x="365760" y="1554480"/>
            <a:ext cx="45360" cy="658080"/>
          </a:xfrm>
          <a:prstGeom prst="rect">
            <a:avLst/>
          </a:prstGeom>
          <a:solidFill>
            <a:srgbClr val="028090"/>
          </a:solidFill>
          <a:ln w="12700">
            <a:solidFill>
              <a:srgbClr val="028090"/>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66" name="Text 5"/>
          <p:cNvSpPr/>
          <p:nvPr/>
        </p:nvSpPr>
        <p:spPr>
          <a:xfrm>
            <a:off x="502920" y="1572840"/>
            <a:ext cx="8137800" cy="621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e6edf3"/>
                </a:solidFill>
                <a:effectLst/>
                <a:uFillTx/>
                <a:latin typeface="Calibri"/>
              </a:rPr>
              <a:t>Train a lightweight deep model (MLP / D-Linear + covariate attention) per cluster of similar time series. When a new SKU arrives: embed → route to its cluster model → forecast zero-shot or with minimal fold-in. Eliminates per-product analyst tuning at scale.</a:t>
            </a:r>
            <a:endParaRPr lang="en-US" sz="1100" b="0" u="none" strike="noStrike">
              <a:solidFill>
                <a:srgbClr val="ffffff"/>
              </a:solidFill>
              <a:effectLst/>
              <a:uFillTx/>
              <a:latin typeface="Arial"/>
            </a:endParaRPr>
          </a:p>
        </p:txBody>
      </p:sp>
      <p:sp>
        <p:nvSpPr>
          <p:cNvPr id="67" name="Shape 6"/>
          <p:cNvSpPr/>
          <p:nvPr/>
        </p:nvSpPr>
        <p:spPr>
          <a:xfrm>
            <a:off x="365760" y="2304360"/>
            <a:ext cx="2742840" cy="2331360"/>
          </a:xfrm>
          <a:prstGeom prst="rect">
            <a:avLst/>
          </a:prstGeom>
          <a:solidFill>
            <a:srgbClr val="161b22"/>
          </a:solidFill>
          <a:ln w="6350">
            <a:solidFill>
              <a:srgbClr val="21262d"/>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68" name="Shape 7"/>
          <p:cNvSpPr/>
          <p:nvPr/>
        </p:nvSpPr>
        <p:spPr>
          <a:xfrm>
            <a:off x="365760" y="2304360"/>
            <a:ext cx="2742840" cy="292320"/>
          </a:xfrm>
          <a:prstGeom prst="rect">
            <a:avLst/>
          </a:prstGeom>
          <a:solidFill>
            <a:srgbClr val="028090">
              <a:alpha val="30000"/>
            </a:srgbClr>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69" name="Text 8"/>
          <p:cNvSpPr/>
          <p:nvPr/>
        </p:nvSpPr>
        <p:spPr>
          <a:xfrm>
            <a:off x="475560" y="2304360"/>
            <a:ext cx="2523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rPr>
              <a:t>The problem it solves</a:t>
            </a:r>
            <a:endParaRPr lang="en-US" sz="1000" b="0" u="none" strike="noStrike">
              <a:solidFill>
                <a:srgbClr val="ffffff"/>
              </a:solidFill>
              <a:effectLst/>
              <a:uFillTx/>
              <a:latin typeface="Arial"/>
            </a:endParaRPr>
          </a:p>
        </p:txBody>
      </p:sp>
      <p:sp>
        <p:nvSpPr>
          <p:cNvPr id="70" name="Text 9"/>
          <p:cNvSpPr/>
          <p:nvPr/>
        </p:nvSpPr>
        <p:spPr>
          <a:xfrm>
            <a:off x="475560" y="2651760"/>
            <a:ext cx="2523240" cy="1919880"/>
          </a:xfrm>
          <a:prstGeom prst="rect">
            <a:avLst/>
          </a:prstGeom>
          <a:noFill/>
          <a:ln w="0">
            <a:noFill/>
          </a:ln>
        </p:spPr>
        <p:style>
          <a:lnRef idx="0"/>
          <a:fillRef idx="0"/>
          <a:effectRef idx="0"/>
          <a:fontRef idx="minor"/>
        </p:style>
        <p:txBody>
          <a:bodyPr lIns="90000" rIns="90000" tIns="45000" bIns="45000" anchor="t">
            <a:noAutofit/>
          </a:bodyPr>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Analysts currently hand-tune transforms and hyperparameters per product.</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At 10–20 SKUs per client: manageable.</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At 500–1000 SKUs: breaks. Headcount scales linearly with SKU count — unsustainable.</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Cluster models give every new series a pre-fitted inductive bias matching its type.</a:t>
            </a:r>
            <a:endParaRPr lang="en-US" sz="950" b="0" u="none" strike="noStrike">
              <a:solidFill>
                <a:srgbClr val="ffffff"/>
              </a:solidFill>
              <a:effectLst/>
              <a:uFillTx/>
              <a:latin typeface="Arial"/>
            </a:endParaRPr>
          </a:p>
        </p:txBody>
      </p:sp>
      <p:sp>
        <p:nvSpPr>
          <p:cNvPr id="71" name="Shape 10"/>
          <p:cNvSpPr/>
          <p:nvPr/>
        </p:nvSpPr>
        <p:spPr>
          <a:xfrm>
            <a:off x="3246120" y="2304360"/>
            <a:ext cx="2742840" cy="2331360"/>
          </a:xfrm>
          <a:prstGeom prst="rect">
            <a:avLst/>
          </a:prstGeom>
          <a:solidFill>
            <a:srgbClr val="161b22"/>
          </a:solidFill>
          <a:ln w="6350">
            <a:solidFill>
              <a:srgbClr val="21262d"/>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72" name="Shape 11"/>
          <p:cNvSpPr/>
          <p:nvPr/>
        </p:nvSpPr>
        <p:spPr>
          <a:xfrm>
            <a:off x="3246120" y="2304360"/>
            <a:ext cx="2742840" cy="292320"/>
          </a:xfrm>
          <a:prstGeom prst="rect">
            <a:avLst/>
          </a:prstGeom>
          <a:solidFill>
            <a:srgbClr val="028090">
              <a:alpha val="30000"/>
            </a:srgbClr>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73" name="Text 12"/>
          <p:cNvSpPr/>
          <p:nvPr/>
        </p:nvSpPr>
        <p:spPr>
          <a:xfrm>
            <a:off x="3355920" y="2304360"/>
            <a:ext cx="2523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rPr>
              <a:t>Architecture</a:t>
            </a:r>
            <a:endParaRPr lang="en-US" sz="1000" b="0" u="none" strike="noStrike">
              <a:solidFill>
                <a:srgbClr val="ffffff"/>
              </a:solidFill>
              <a:effectLst/>
              <a:uFillTx/>
              <a:latin typeface="Arial"/>
            </a:endParaRPr>
          </a:p>
        </p:txBody>
      </p:sp>
      <p:sp>
        <p:nvSpPr>
          <p:cNvPr id="74" name="Text 13"/>
          <p:cNvSpPr/>
          <p:nvPr/>
        </p:nvSpPr>
        <p:spPr>
          <a:xfrm>
            <a:off x="3355920" y="2651760"/>
            <a:ext cx="2523240" cy="1919880"/>
          </a:xfrm>
          <a:prstGeom prst="rect">
            <a:avLst/>
          </a:prstGeom>
          <a:noFill/>
          <a:ln w="0">
            <a:noFill/>
          </a:ln>
        </p:spPr>
        <p:style>
          <a:lnRef idx="0"/>
          <a:fillRef idx="0"/>
          <a:effectRef idx="0"/>
          <a:fontRef idx="minor"/>
        </p:style>
        <p:txBody>
          <a:bodyPr lIns="90000" rIns="90000" tIns="45000" bIns="45000" anchor="t">
            <a:noAutofit/>
          </a:bodyPr>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200M series → embedding model → k clusters (FAISS).</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Optional sub-clustering by regime (stationarity, seasonality) within each shape cluster.</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D-Linear / MLP backbone trained on all series in cluster.</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Covariate attention over z_cov embeddings from P2 — no redundant learning of covariate representations.</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Hybrid: embedding for selection, raw TS for temporal detail when needed.</a:t>
            </a:r>
            <a:endParaRPr lang="en-US" sz="950" b="0" u="none" strike="noStrike">
              <a:solidFill>
                <a:srgbClr val="ffffff"/>
              </a:solidFill>
              <a:effectLst/>
              <a:uFillTx/>
              <a:latin typeface="Arial"/>
            </a:endParaRPr>
          </a:p>
        </p:txBody>
      </p:sp>
      <p:sp>
        <p:nvSpPr>
          <p:cNvPr id="75" name="Shape 14"/>
          <p:cNvSpPr/>
          <p:nvPr/>
        </p:nvSpPr>
        <p:spPr>
          <a:xfrm>
            <a:off x="6126480" y="2304360"/>
            <a:ext cx="2742840" cy="2331360"/>
          </a:xfrm>
          <a:prstGeom prst="rect">
            <a:avLst/>
          </a:prstGeom>
          <a:solidFill>
            <a:srgbClr val="161b22"/>
          </a:solidFill>
          <a:ln w="6350">
            <a:solidFill>
              <a:srgbClr val="21262d"/>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76" name="Shape 15"/>
          <p:cNvSpPr/>
          <p:nvPr/>
        </p:nvSpPr>
        <p:spPr>
          <a:xfrm>
            <a:off x="6126480" y="2304360"/>
            <a:ext cx="2742840" cy="292320"/>
          </a:xfrm>
          <a:prstGeom prst="rect">
            <a:avLst/>
          </a:prstGeom>
          <a:solidFill>
            <a:srgbClr val="028090">
              <a:alpha val="30000"/>
            </a:srgbClr>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77" name="Text 16"/>
          <p:cNvSpPr/>
          <p:nvPr/>
        </p:nvSpPr>
        <p:spPr>
          <a:xfrm>
            <a:off x="6236280" y="2304360"/>
            <a:ext cx="2523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rPr>
              <a:t>Expected impact</a:t>
            </a:r>
            <a:endParaRPr lang="en-US" sz="1000" b="0" u="none" strike="noStrike">
              <a:solidFill>
                <a:srgbClr val="ffffff"/>
              </a:solidFill>
              <a:effectLst/>
              <a:uFillTx/>
              <a:latin typeface="Arial"/>
            </a:endParaRPr>
          </a:p>
        </p:txBody>
      </p:sp>
      <p:sp>
        <p:nvSpPr>
          <p:cNvPr id="78" name="Text 17"/>
          <p:cNvSpPr/>
          <p:nvPr/>
        </p:nvSpPr>
        <p:spPr>
          <a:xfrm>
            <a:off x="6236280" y="2651760"/>
            <a:ext cx="2523240" cy="1919880"/>
          </a:xfrm>
          <a:prstGeom prst="rect">
            <a:avLst/>
          </a:prstGeom>
          <a:noFill/>
          <a:ln w="0">
            <a:noFill/>
          </a:ln>
        </p:spPr>
        <p:style>
          <a:lnRef idx="0"/>
          <a:fillRef idx="0"/>
          <a:effectRef idx="0"/>
          <a:fontRef idx="minor"/>
        </p:style>
        <p:txBody>
          <a:bodyPr lIns="90000" rIns="90000" tIns="45000" bIns="45000" anchor="t">
            <a:noAutofit/>
          </a:bodyPr>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Near-zero marginal cost per new SKU onboarded.</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Enables 1000-SKU enterprise clients without analyst bottleneck.</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Public benchmark validation: M5 and VN2 Inventory Planning — 200M series are the training data, no benchmark dependency.</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Symbiotic with P2: causal covariate embeddings feed directly into attention layer.</a:t>
            </a:r>
            <a:endParaRPr lang="en-US" sz="950" b="0" u="none" strike="noStrike">
              <a:solidFill>
                <a:srgbClr val="ffffff"/>
              </a:solidFill>
              <a:effectLst/>
              <a:uFillTx/>
              <a:latin typeface="Arial"/>
            </a:endParaRPr>
          </a:p>
        </p:txBody>
      </p:sp>
      <p:sp>
        <p:nvSpPr>
          <p:cNvPr id="79" name="Shape 18"/>
          <p:cNvSpPr/>
          <p:nvPr/>
        </p:nvSpPr>
        <p:spPr>
          <a:xfrm>
            <a:off x="365760" y="4681800"/>
            <a:ext cx="1992960" cy="347040"/>
          </a:xfrm>
          <a:prstGeom prst="rect">
            <a:avLst/>
          </a:prstGeom>
          <a:solidFill>
            <a:srgbClr val="161b22"/>
          </a:solidFill>
          <a:ln w="6350">
            <a:solidFill>
              <a:srgbClr val="028090"/>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80" name="Text 19"/>
          <p:cNvSpPr/>
          <p:nvPr/>
        </p:nvSpPr>
        <p:spPr>
          <a:xfrm>
            <a:off x="457200" y="469080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8b949e"/>
                </a:solidFill>
                <a:effectLst/>
                <a:uFillTx/>
                <a:latin typeface="Calibri"/>
              </a:rPr>
              <a:t>Horizon</a:t>
            </a:r>
            <a:endParaRPr lang="en-US" sz="800" b="0" u="none" strike="noStrike">
              <a:solidFill>
                <a:srgbClr val="ffffff"/>
              </a:solidFill>
              <a:effectLst/>
              <a:uFillTx/>
              <a:latin typeface="Arial"/>
            </a:endParaRPr>
          </a:p>
        </p:txBody>
      </p:sp>
      <p:sp>
        <p:nvSpPr>
          <p:cNvPr id="81" name="Text 20"/>
          <p:cNvSpPr/>
          <p:nvPr/>
        </p:nvSpPr>
        <p:spPr>
          <a:xfrm>
            <a:off x="457200" y="483732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028090"/>
                </a:solidFill>
                <a:effectLst/>
                <a:uFillTx/>
                <a:latin typeface="Calibri"/>
              </a:rPr>
              <a:t>6–10 months</a:t>
            </a:r>
            <a:endParaRPr lang="en-US" sz="900" b="0" u="none" strike="noStrike">
              <a:solidFill>
                <a:srgbClr val="ffffff"/>
              </a:solidFill>
              <a:effectLst/>
              <a:uFillTx/>
              <a:latin typeface="Arial"/>
            </a:endParaRPr>
          </a:p>
        </p:txBody>
      </p:sp>
      <p:sp>
        <p:nvSpPr>
          <p:cNvPr id="82" name="Shape 21"/>
          <p:cNvSpPr/>
          <p:nvPr/>
        </p:nvSpPr>
        <p:spPr>
          <a:xfrm>
            <a:off x="2496240" y="4681800"/>
            <a:ext cx="1992960" cy="347040"/>
          </a:xfrm>
          <a:prstGeom prst="rect">
            <a:avLst/>
          </a:prstGeom>
          <a:solidFill>
            <a:srgbClr val="161b22"/>
          </a:solidFill>
          <a:ln w="6350">
            <a:solidFill>
              <a:srgbClr val="e8a838"/>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83" name="Text 22"/>
          <p:cNvSpPr/>
          <p:nvPr/>
        </p:nvSpPr>
        <p:spPr>
          <a:xfrm>
            <a:off x="2587680" y="469080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8b949e"/>
                </a:solidFill>
                <a:effectLst/>
                <a:uFillTx/>
                <a:latin typeface="Calibri"/>
              </a:rPr>
              <a:t>Team cost</a:t>
            </a:r>
            <a:endParaRPr lang="en-US" sz="800" b="0" u="none" strike="noStrike">
              <a:solidFill>
                <a:srgbClr val="ffffff"/>
              </a:solidFill>
              <a:effectLst/>
              <a:uFillTx/>
              <a:latin typeface="Arial"/>
            </a:endParaRPr>
          </a:p>
        </p:txBody>
      </p:sp>
      <p:sp>
        <p:nvSpPr>
          <p:cNvPr id="84" name="Text 23"/>
          <p:cNvSpPr/>
          <p:nvPr/>
        </p:nvSpPr>
        <p:spPr>
          <a:xfrm>
            <a:off x="2587680" y="483732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e8a838"/>
                </a:solidFill>
                <a:effectLst/>
                <a:uFillTx/>
                <a:latin typeface="Calibri"/>
              </a:rPr>
              <a:t>High — 1 FTE lead</a:t>
            </a:r>
            <a:endParaRPr lang="en-US" sz="900" b="0" u="none" strike="noStrike">
              <a:solidFill>
                <a:srgbClr val="ffffff"/>
              </a:solidFill>
              <a:effectLst/>
              <a:uFillTx/>
              <a:latin typeface="Arial"/>
            </a:endParaRPr>
          </a:p>
        </p:txBody>
      </p:sp>
      <p:sp>
        <p:nvSpPr>
          <p:cNvPr id="85" name="Shape 24"/>
          <p:cNvSpPr/>
          <p:nvPr/>
        </p:nvSpPr>
        <p:spPr>
          <a:xfrm>
            <a:off x="4626720" y="4681800"/>
            <a:ext cx="1992960" cy="347040"/>
          </a:xfrm>
          <a:prstGeom prst="rect">
            <a:avLst/>
          </a:prstGeom>
          <a:solidFill>
            <a:srgbClr val="161b22"/>
          </a:solidFill>
          <a:ln w="6350">
            <a:solidFill>
              <a:srgbClr val="028090"/>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86" name="Text 25"/>
          <p:cNvSpPr/>
          <p:nvPr/>
        </p:nvSpPr>
        <p:spPr>
          <a:xfrm>
            <a:off x="4718160" y="469080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8b949e"/>
                </a:solidFill>
                <a:effectLst/>
                <a:uFillTx/>
                <a:latin typeface="Calibri"/>
              </a:rPr>
              <a:t>Primary value</a:t>
            </a:r>
            <a:endParaRPr lang="en-US" sz="800" b="0" u="none" strike="noStrike">
              <a:solidFill>
                <a:srgbClr val="ffffff"/>
              </a:solidFill>
              <a:effectLst/>
              <a:uFillTx/>
              <a:latin typeface="Arial"/>
            </a:endParaRPr>
          </a:p>
        </p:txBody>
      </p:sp>
      <p:sp>
        <p:nvSpPr>
          <p:cNvPr id="87" name="Text 26"/>
          <p:cNvSpPr/>
          <p:nvPr/>
        </p:nvSpPr>
        <p:spPr>
          <a:xfrm>
            <a:off x="4718160" y="483732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028090"/>
                </a:solidFill>
                <a:effectLst/>
                <a:uFillTx/>
                <a:latin typeface="Calibri"/>
              </a:rPr>
              <a:t>Scalability</a:t>
            </a:r>
            <a:endParaRPr lang="en-US" sz="900" b="0" u="none" strike="noStrike">
              <a:solidFill>
                <a:srgbClr val="ffffff"/>
              </a:solidFill>
              <a:effectLst/>
              <a:uFillTx/>
              <a:latin typeface="Arial"/>
            </a:endParaRPr>
          </a:p>
        </p:txBody>
      </p:sp>
      <p:sp>
        <p:nvSpPr>
          <p:cNvPr id="88" name="Shape 27"/>
          <p:cNvSpPr/>
          <p:nvPr/>
        </p:nvSpPr>
        <p:spPr>
          <a:xfrm>
            <a:off x="6757560" y="4681800"/>
            <a:ext cx="1992960" cy="347040"/>
          </a:xfrm>
          <a:prstGeom prst="rect">
            <a:avLst/>
          </a:prstGeom>
          <a:solidFill>
            <a:srgbClr val="161b22"/>
          </a:solidFill>
          <a:ln w="6350">
            <a:solidFill>
              <a:srgbClr val="3fb950"/>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89" name="Text 28"/>
          <p:cNvSpPr/>
          <p:nvPr/>
        </p:nvSpPr>
        <p:spPr>
          <a:xfrm>
            <a:off x="6849000" y="469080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8b949e"/>
                </a:solidFill>
                <a:effectLst/>
                <a:uFillTx/>
                <a:latin typeface="Calibri"/>
              </a:rPr>
              <a:t>Gate experiment</a:t>
            </a:r>
            <a:endParaRPr lang="en-US" sz="800" b="0" u="none" strike="noStrike">
              <a:solidFill>
                <a:srgbClr val="ffffff"/>
              </a:solidFill>
              <a:effectLst/>
              <a:uFillTx/>
              <a:latin typeface="Arial"/>
            </a:endParaRPr>
          </a:p>
        </p:txBody>
      </p:sp>
      <p:sp>
        <p:nvSpPr>
          <p:cNvPr id="90" name="Text 29"/>
          <p:cNvSpPr/>
          <p:nvPr/>
        </p:nvSpPr>
        <p:spPr>
          <a:xfrm>
            <a:off x="6849000" y="483732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3fb950"/>
                </a:solidFill>
                <a:effectLst/>
                <a:uFillTx/>
                <a:latin typeface="Calibri"/>
              </a:rPr>
              <a:t>2–3 weeks cluster QA first</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91" name="Shape 0"/>
          <p:cNvSpPr/>
          <p:nvPr/>
        </p:nvSpPr>
        <p:spPr>
          <a:xfrm>
            <a:off x="365760" y="713160"/>
            <a:ext cx="36360" cy="273960"/>
          </a:xfrm>
          <a:prstGeom prst="rect">
            <a:avLst/>
          </a:prstGeom>
          <a:solidFill>
            <a:srgbClr val="028090"/>
          </a:solidFill>
          <a:ln w="12700">
            <a:solidFill>
              <a:srgbClr val="028090"/>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92" name="Text 1"/>
          <p:cNvSpPr/>
          <p:nvPr/>
        </p:nvSpPr>
        <p:spPr>
          <a:xfrm>
            <a:off x="475560" y="685800"/>
            <a:ext cx="457164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028090"/>
                </a:solidFill>
                <a:effectLst/>
                <a:uFillTx/>
                <a:latin typeface="Calibri"/>
              </a:rPr>
              <a:t>Project 1 — Risks &amp; Gate Experiment</a:t>
            </a:r>
            <a:endParaRPr lang="en-US" sz="1100" b="0" u="none" strike="noStrike">
              <a:solidFill>
                <a:srgbClr val="ffffff"/>
              </a:solidFill>
              <a:effectLst/>
              <a:uFillTx/>
              <a:latin typeface="Arial"/>
            </a:endParaRPr>
          </a:p>
        </p:txBody>
      </p:sp>
      <p:sp>
        <p:nvSpPr>
          <p:cNvPr id="93" name="Text 2"/>
          <p:cNvSpPr/>
          <p:nvPr/>
        </p:nvSpPr>
        <p:spPr>
          <a:xfrm>
            <a:off x="365760" y="960120"/>
            <a:ext cx="84121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400" b="1" u="none" strike="noStrike">
                <a:solidFill>
                  <a:srgbClr val="ffffff"/>
                </a:solidFill>
                <a:effectLst/>
                <a:uFillTx/>
                <a:latin typeface="Calibri"/>
              </a:rPr>
              <a:t>Key Risks and How to Mitigate Them</a:t>
            </a:r>
            <a:endParaRPr lang="en-US" sz="2400" b="0" u="none" strike="noStrike">
              <a:solidFill>
                <a:srgbClr val="ffffff"/>
              </a:solidFill>
              <a:effectLst/>
              <a:uFillTx/>
              <a:latin typeface="Arial"/>
            </a:endParaRPr>
          </a:p>
        </p:txBody>
      </p:sp>
      <p:sp>
        <p:nvSpPr>
          <p:cNvPr id="94" name="Shape 3"/>
          <p:cNvSpPr/>
          <p:nvPr/>
        </p:nvSpPr>
        <p:spPr>
          <a:xfrm>
            <a:off x="365760" y="1508760"/>
            <a:ext cx="8412120" cy="1051200"/>
          </a:xfrm>
          <a:prstGeom prst="rect">
            <a:avLst/>
          </a:prstGeom>
          <a:solidFill>
            <a:srgbClr val="161b22"/>
          </a:solidFill>
          <a:ln w="6350">
            <a:solidFill>
              <a:srgbClr val="e8a838"/>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95" name="Shape 4"/>
          <p:cNvSpPr/>
          <p:nvPr/>
        </p:nvSpPr>
        <p:spPr>
          <a:xfrm>
            <a:off x="365760" y="1508760"/>
            <a:ext cx="45360" cy="1051200"/>
          </a:xfrm>
          <a:prstGeom prst="rect">
            <a:avLst/>
          </a:prstGeom>
          <a:solidFill>
            <a:srgbClr val="e8a838"/>
          </a:solidFill>
          <a:ln w="12700">
            <a:solidFill>
              <a:srgbClr val="e8a838"/>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96" name="Text 5"/>
          <p:cNvSpPr/>
          <p:nvPr/>
        </p:nvSpPr>
        <p:spPr>
          <a:xfrm>
            <a:off x="548640" y="1563480"/>
            <a:ext cx="804636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ffffff"/>
                </a:solidFill>
                <a:effectLst/>
                <a:uFillTx/>
                <a:latin typeface="Calibri"/>
              </a:rPr>
              <a:t>Cluster quality — shape ≠ regime</a:t>
            </a:r>
            <a:endParaRPr lang="en-US" sz="1200" b="0" u="none" strike="noStrike">
              <a:solidFill>
                <a:srgbClr val="ffffff"/>
              </a:solidFill>
              <a:effectLst/>
              <a:uFillTx/>
              <a:latin typeface="Arial"/>
            </a:endParaRPr>
          </a:p>
        </p:txBody>
      </p:sp>
      <p:sp>
        <p:nvSpPr>
          <p:cNvPr id="97" name="Text 6"/>
          <p:cNvSpPr/>
          <p:nvPr/>
        </p:nvSpPr>
        <p:spPr>
          <a:xfrm>
            <a:off x="548640" y="1801440"/>
            <a:ext cx="3931560" cy="6764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950" b="0" u="none" strike="noStrike">
                <a:solidFill>
                  <a:srgbClr val="8b949e"/>
                </a:solidFill>
                <a:effectLst/>
                <a:uFillTx/>
                <a:latin typeface="Calibri"/>
              </a:rPr>
              <a:t>Risk: DTW embeddings cluster by shape similarity. Two shape-similar series may have different stationarity regimes, requiring different transforms. A single cluster model could underfit mixed-regime members.</a:t>
            </a:r>
            <a:endParaRPr lang="en-US" sz="950" b="0" u="none" strike="noStrike">
              <a:solidFill>
                <a:srgbClr val="ffffff"/>
              </a:solidFill>
              <a:effectLst/>
              <a:uFillTx/>
              <a:latin typeface="Arial"/>
            </a:endParaRPr>
          </a:p>
        </p:txBody>
      </p:sp>
      <p:sp>
        <p:nvSpPr>
          <p:cNvPr id="98" name="Shape 7"/>
          <p:cNvSpPr/>
          <p:nvPr/>
        </p:nvSpPr>
        <p:spPr>
          <a:xfrm>
            <a:off x="4663440" y="1563480"/>
            <a:ext cx="456840" cy="914040"/>
          </a:xfrm>
          <a:prstGeom prst="rect">
            <a:avLst/>
          </a:prstGeom>
          <a:solidFill>
            <a:srgbClr val="21262d"/>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99" name="Text 8"/>
          <p:cNvSpPr/>
          <p:nvPr/>
        </p:nvSpPr>
        <p:spPr>
          <a:xfrm rot="16200000">
            <a:off x="4708800" y="1563840"/>
            <a:ext cx="45684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00" b="1" u="none" strike="noStrike">
                <a:solidFill>
                  <a:srgbClr val="e8a838"/>
                </a:solidFill>
                <a:effectLst/>
                <a:uFillTx/>
                <a:latin typeface="Calibri"/>
              </a:rPr>
              <a:t>Mitigation</a:t>
            </a:r>
            <a:endParaRPr lang="en-US" sz="700" b="0" u="none" strike="noStrike">
              <a:solidFill>
                <a:srgbClr val="ffffff"/>
              </a:solidFill>
              <a:effectLst/>
              <a:uFillTx/>
              <a:latin typeface="Arial"/>
            </a:endParaRPr>
          </a:p>
        </p:txBody>
      </p:sp>
      <p:sp>
        <p:nvSpPr>
          <p:cNvPr id="100" name="Text 9"/>
          <p:cNvSpPr/>
          <p:nvPr/>
        </p:nvSpPr>
        <p:spPr>
          <a:xfrm>
            <a:off x="5029200" y="1801440"/>
            <a:ext cx="3611520" cy="6764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950" b="0" u="none" strike="noStrike">
                <a:solidFill>
                  <a:srgbClr val="e6edf3"/>
                </a:solidFill>
                <a:effectLst/>
                <a:uFillTx/>
                <a:latin typeface="Calibri"/>
              </a:rPr>
              <a:t>Sub-cluster by regime within each shape cluster using existing detector flags (NonstationarityDetector, SeasonalityDetector, HeteroscedasticityDetector). Each sub-cluster gets its own model trained on regime-consistent series.</a:t>
            </a:r>
            <a:endParaRPr lang="en-US" sz="950" b="0" u="none" strike="noStrike">
              <a:solidFill>
                <a:srgbClr val="ffffff"/>
              </a:solidFill>
              <a:effectLst/>
              <a:uFillTx/>
              <a:latin typeface="Arial"/>
            </a:endParaRPr>
          </a:p>
        </p:txBody>
      </p:sp>
      <p:sp>
        <p:nvSpPr>
          <p:cNvPr id="101" name="Shape 10"/>
          <p:cNvSpPr/>
          <p:nvPr/>
        </p:nvSpPr>
        <p:spPr>
          <a:xfrm>
            <a:off x="365760" y="2651760"/>
            <a:ext cx="8412120" cy="1051200"/>
          </a:xfrm>
          <a:prstGeom prst="rect">
            <a:avLst/>
          </a:prstGeom>
          <a:solidFill>
            <a:srgbClr val="161b22"/>
          </a:solidFill>
          <a:ln w="6350">
            <a:solidFill>
              <a:srgbClr val="e8a838"/>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02" name="Shape 11"/>
          <p:cNvSpPr/>
          <p:nvPr/>
        </p:nvSpPr>
        <p:spPr>
          <a:xfrm>
            <a:off x="365760" y="2651760"/>
            <a:ext cx="45360" cy="1051200"/>
          </a:xfrm>
          <a:prstGeom prst="rect">
            <a:avLst/>
          </a:prstGeom>
          <a:solidFill>
            <a:srgbClr val="e8a838"/>
          </a:solidFill>
          <a:ln w="12700">
            <a:solidFill>
              <a:srgbClr val="e8a838"/>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103" name="Text 12"/>
          <p:cNvSpPr/>
          <p:nvPr/>
        </p:nvSpPr>
        <p:spPr>
          <a:xfrm>
            <a:off x="548640" y="2706480"/>
            <a:ext cx="804636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ffffff"/>
                </a:solidFill>
                <a:effectLst/>
                <a:uFillTx/>
                <a:latin typeface="Calibri"/>
              </a:rPr>
              <a:t>PyTorch integration into the library</a:t>
            </a:r>
            <a:endParaRPr lang="en-US" sz="1200" b="0" u="none" strike="noStrike">
              <a:solidFill>
                <a:srgbClr val="ffffff"/>
              </a:solidFill>
              <a:effectLst/>
              <a:uFillTx/>
              <a:latin typeface="Arial"/>
            </a:endParaRPr>
          </a:p>
        </p:txBody>
      </p:sp>
      <p:sp>
        <p:nvSpPr>
          <p:cNvPr id="104" name="Text 13"/>
          <p:cNvSpPr/>
          <p:nvPr/>
        </p:nvSpPr>
        <p:spPr>
          <a:xfrm>
            <a:off x="548640" y="2944440"/>
            <a:ext cx="3931560" cy="6764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950" b="0" u="none" strike="noStrike">
                <a:solidFill>
                  <a:srgbClr val="8b949e"/>
                </a:solidFill>
                <a:effectLst/>
                <a:uFillTx/>
                <a:latin typeface="Calibri"/>
              </a:rPr>
              <a:t>Risk: The forecast_pipeline library uses a strict layering architecture (LGBM, linear, statsforecast). Integrating a PyTorch-based deep model requires extending the Model ABC and the serialization layer without violating determinism and layering invariants.</a:t>
            </a:r>
            <a:endParaRPr lang="en-US" sz="950" b="0" u="none" strike="noStrike">
              <a:solidFill>
                <a:srgbClr val="ffffff"/>
              </a:solidFill>
              <a:effectLst/>
              <a:uFillTx/>
              <a:latin typeface="Arial"/>
            </a:endParaRPr>
          </a:p>
        </p:txBody>
      </p:sp>
      <p:sp>
        <p:nvSpPr>
          <p:cNvPr id="105" name="Shape 14"/>
          <p:cNvSpPr/>
          <p:nvPr/>
        </p:nvSpPr>
        <p:spPr>
          <a:xfrm>
            <a:off x="4663440" y="2706480"/>
            <a:ext cx="456840" cy="914040"/>
          </a:xfrm>
          <a:prstGeom prst="rect">
            <a:avLst/>
          </a:prstGeom>
          <a:solidFill>
            <a:srgbClr val="21262d"/>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06" name="Text 15"/>
          <p:cNvSpPr/>
          <p:nvPr/>
        </p:nvSpPr>
        <p:spPr>
          <a:xfrm rot="16200000">
            <a:off x="4708800" y="2706840"/>
            <a:ext cx="45684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00" b="1" u="none" strike="noStrike">
                <a:solidFill>
                  <a:srgbClr val="e8a838"/>
                </a:solidFill>
                <a:effectLst/>
                <a:uFillTx/>
                <a:latin typeface="Calibri"/>
              </a:rPr>
              <a:t>Mitigation</a:t>
            </a:r>
            <a:endParaRPr lang="en-US" sz="700" b="0" u="none" strike="noStrike">
              <a:solidFill>
                <a:srgbClr val="ffffff"/>
              </a:solidFill>
              <a:effectLst/>
              <a:uFillTx/>
              <a:latin typeface="Arial"/>
            </a:endParaRPr>
          </a:p>
        </p:txBody>
      </p:sp>
      <p:sp>
        <p:nvSpPr>
          <p:cNvPr id="107" name="Text 16"/>
          <p:cNvSpPr/>
          <p:nvPr/>
        </p:nvSpPr>
        <p:spPr>
          <a:xfrm>
            <a:off x="5029200" y="2944440"/>
            <a:ext cx="3611520" cy="6764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950" b="0" u="none" strike="noStrike">
                <a:solidFill>
                  <a:srgbClr val="e6edf3"/>
                </a:solidFill>
                <a:effectLst/>
                <a:uFillTx/>
                <a:latin typeface="Calibri"/>
              </a:rPr>
              <a:t>Implement ClusterDeepModel as a first-class Model ABC subclass. Persist cluster routing index (FAISS) via save_state_dict. Keep the deep model as an optional dependency — library stays lightweight for non-deep use cases.</a:t>
            </a:r>
            <a:endParaRPr lang="en-US" sz="950" b="0" u="none" strike="noStrike">
              <a:solidFill>
                <a:srgbClr val="ffffff"/>
              </a:solidFill>
              <a:effectLst/>
              <a:uFillTx/>
              <a:latin typeface="Arial"/>
            </a:endParaRPr>
          </a:p>
        </p:txBody>
      </p:sp>
      <p:sp>
        <p:nvSpPr>
          <p:cNvPr id="108" name="Shape 17"/>
          <p:cNvSpPr/>
          <p:nvPr/>
        </p:nvSpPr>
        <p:spPr>
          <a:xfrm>
            <a:off x="365760" y="3794760"/>
            <a:ext cx="8412120" cy="1051200"/>
          </a:xfrm>
          <a:prstGeom prst="rect">
            <a:avLst/>
          </a:prstGeom>
          <a:solidFill>
            <a:srgbClr val="161b22"/>
          </a:solidFill>
          <a:ln w="6350">
            <a:solidFill>
              <a:srgbClr val="e05c5c"/>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09" name="Shape 18"/>
          <p:cNvSpPr/>
          <p:nvPr/>
        </p:nvSpPr>
        <p:spPr>
          <a:xfrm>
            <a:off x="365760" y="3794760"/>
            <a:ext cx="45360" cy="1051200"/>
          </a:xfrm>
          <a:prstGeom prst="rect">
            <a:avLst/>
          </a:prstGeom>
          <a:solidFill>
            <a:srgbClr val="e05c5c"/>
          </a:solidFill>
          <a:ln w="12700">
            <a:solidFill>
              <a:srgbClr val="e05c5c"/>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10" name="Text 19"/>
          <p:cNvSpPr/>
          <p:nvPr/>
        </p:nvSpPr>
        <p:spPr>
          <a:xfrm>
            <a:off x="548640" y="3849480"/>
            <a:ext cx="804636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ffffff"/>
                </a:solidFill>
                <a:effectLst/>
                <a:uFillTx/>
                <a:latin typeface="Calibri"/>
              </a:rPr>
              <a:t>No proven accuracy gain over tuned LGBM yet</a:t>
            </a:r>
            <a:endParaRPr lang="en-US" sz="1200" b="0" u="none" strike="noStrike">
              <a:solidFill>
                <a:srgbClr val="ffffff"/>
              </a:solidFill>
              <a:effectLst/>
              <a:uFillTx/>
              <a:latin typeface="Arial"/>
            </a:endParaRPr>
          </a:p>
        </p:txBody>
      </p:sp>
      <p:sp>
        <p:nvSpPr>
          <p:cNvPr id="111" name="Text 20"/>
          <p:cNvSpPr/>
          <p:nvPr/>
        </p:nvSpPr>
        <p:spPr>
          <a:xfrm>
            <a:off x="548640" y="4087440"/>
            <a:ext cx="3931560" cy="6764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950" b="0" u="none" strike="noStrike">
                <a:solidFill>
                  <a:srgbClr val="8b949e"/>
                </a:solidFill>
                <a:effectLst/>
                <a:uFillTx/>
                <a:latin typeface="Calibri"/>
              </a:rPr>
              <a:t>Risk: Deep models don't always beat well-tuned gradient boosting on tabular/TS data. The cluster model needs to outperform default LGBM to justify the engineering cost.</a:t>
            </a:r>
            <a:endParaRPr lang="en-US" sz="950" b="0" u="none" strike="noStrike">
              <a:solidFill>
                <a:srgbClr val="ffffff"/>
              </a:solidFill>
              <a:effectLst/>
              <a:uFillTx/>
              <a:latin typeface="Arial"/>
            </a:endParaRPr>
          </a:p>
        </p:txBody>
      </p:sp>
      <p:sp>
        <p:nvSpPr>
          <p:cNvPr id="112" name="Shape 21"/>
          <p:cNvSpPr/>
          <p:nvPr/>
        </p:nvSpPr>
        <p:spPr>
          <a:xfrm>
            <a:off x="4663440" y="3849480"/>
            <a:ext cx="456840" cy="914040"/>
          </a:xfrm>
          <a:prstGeom prst="rect">
            <a:avLst/>
          </a:prstGeom>
          <a:solidFill>
            <a:srgbClr val="21262d"/>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13" name="Text 22"/>
          <p:cNvSpPr/>
          <p:nvPr/>
        </p:nvSpPr>
        <p:spPr>
          <a:xfrm rot="16200000">
            <a:off x="4708800" y="3849840"/>
            <a:ext cx="45684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00" b="1" u="none" strike="noStrike">
                <a:solidFill>
                  <a:srgbClr val="e05c5c"/>
                </a:solidFill>
                <a:effectLst/>
                <a:uFillTx/>
                <a:latin typeface="Calibri"/>
              </a:rPr>
              <a:t>Mitigation</a:t>
            </a:r>
            <a:endParaRPr lang="en-US" sz="700" b="0" u="none" strike="noStrike">
              <a:solidFill>
                <a:srgbClr val="ffffff"/>
              </a:solidFill>
              <a:effectLst/>
              <a:uFillTx/>
              <a:latin typeface="Arial"/>
            </a:endParaRPr>
          </a:p>
        </p:txBody>
      </p:sp>
      <p:sp>
        <p:nvSpPr>
          <p:cNvPr id="114" name="Text 23"/>
          <p:cNvSpPr/>
          <p:nvPr/>
        </p:nvSpPr>
        <p:spPr>
          <a:xfrm>
            <a:off x="5029200" y="4087440"/>
            <a:ext cx="3611520" cy="6764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950" b="0" u="none" strike="noStrike">
                <a:solidFill>
                  <a:srgbClr val="e6edf3"/>
                </a:solidFill>
                <a:effectLst/>
                <a:uFillTx/>
                <a:latin typeface="Calibri"/>
              </a:rPr>
              <a:t>Frame success as analyst-time elimination, not raw accuracy. Validate on M5 and VN2 benchmarks — 200M series are the training data. If cluster models match tuned LGBM accuracy, zero-shot onboarding is already a net win.</a:t>
            </a:r>
            <a:endParaRPr lang="en-US" sz="950" b="0" u="none" strike="noStrike">
              <a:solidFill>
                <a:srgbClr val="ffffff"/>
              </a:solidFill>
              <a:effectLst/>
              <a:uFillTx/>
              <a:latin typeface="Arial"/>
            </a:endParaRPr>
          </a:p>
        </p:txBody>
      </p:sp>
      <p:sp>
        <p:nvSpPr>
          <p:cNvPr id="115" name="Shape 24"/>
          <p:cNvSpPr/>
          <p:nvPr/>
        </p:nvSpPr>
        <p:spPr>
          <a:xfrm>
            <a:off x="365760" y="4663440"/>
            <a:ext cx="8412120" cy="383760"/>
          </a:xfrm>
          <a:prstGeom prst="rect">
            <a:avLst/>
          </a:prstGeom>
          <a:solidFill>
            <a:srgbClr val="161b22"/>
          </a:solidFill>
          <a:ln w="6350">
            <a:solidFill>
              <a:srgbClr val="3fb950"/>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16" name="Shape 25"/>
          <p:cNvSpPr/>
          <p:nvPr/>
        </p:nvSpPr>
        <p:spPr>
          <a:xfrm>
            <a:off x="365760" y="4663440"/>
            <a:ext cx="45360" cy="383760"/>
          </a:xfrm>
          <a:prstGeom prst="rect">
            <a:avLst/>
          </a:prstGeom>
          <a:solidFill>
            <a:srgbClr val="3fb950"/>
          </a:solidFill>
          <a:ln w="12700">
            <a:solidFill>
              <a:srgbClr val="3fb950"/>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117" name="Text 26"/>
          <p:cNvSpPr/>
          <p:nvPr/>
        </p:nvSpPr>
        <p:spPr>
          <a:xfrm>
            <a:off x="548640" y="4681800"/>
            <a:ext cx="320004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3fb950"/>
                </a:solidFill>
                <a:effectLst/>
                <a:uFillTx/>
                <a:latin typeface="Calibri"/>
              </a:rPr>
              <a:t>Gate experiment (2–3 weeks, run immediately):  </a:t>
            </a:r>
            <a:endParaRPr lang="en-US" sz="1000" b="0" u="none" strike="noStrike">
              <a:solidFill>
                <a:srgbClr val="ffffff"/>
              </a:solidFill>
              <a:effectLst/>
              <a:uFillTx/>
              <a:latin typeface="Arial"/>
            </a:endParaRPr>
          </a:p>
        </p:txBody>
      </p:sp>
      <p:sp>
        <p:nvSpPr>
          <p:cNvPr id="118" name="Text 27"/>
          <p:cNvSpPr/>
          <p:nvPr/>
        </p:nvSpPr>
        <p:spPr>
          <a:xfrm>
            <a:off x="3657600" y="4681800"/>
            <a:ext cx="493740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e6edf3"/>
                </a:solidFill>
                <a:effectLst/>
                <a:uFillTx/>
                <a:latin typeface="Calibri"/>
              </a:rPr>
              <a:t>Embed 150 benchmark series → cluster → run detector suite per cluster → measure within-cluster variance of stationarity, seasonality, and heteroscedasticity flags. Low variance → proceed directly. High variance → implement shape + regime sub-clustering, then proceed.</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119" name="Shape 0"/>
          <p:cNvSpPr/>
          <p:nvPr/>
        </p:nvSpPr>
        <p:spPr>
          <a:xfrm>
            <a:off x="365760" y="713160"/>
            <a:ext cx="36360" cy="273960"/>
          </a:xfrm>
          <a:prstGeom prst="rect">
            <a:avLst/>
          </a:prstGeom>
          <a:solidFill>
            <a:srgbClr val="8b5cf6"/>
          </a:solidFill>
          <a:ln w="12700">
            <a:solidFill>
              <a:srgbClr val="8b5cf6"/>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20" name="Text 1"/>
          <p:cNvSpPr/>
          <p:nvPr/>
        </p:nvSpPr>
        <p:spPr>
          <a:xfrm>
            <a:off x="475560" y="685800"/>
            <a:ext cx="457164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8b5cf6"/>
                </a:solidFill>
                <a:effectLst/>
                <a:uFillTx/>
                <a:latin typeface="Calibri"/>
              </a:rPr>
              <a:t>Project 2</a:t>
            </a:r>
            <a:endParaRPr lang="en-US" sz="1100" b="0" u="none" strike="noStrike">
              <a:solidFill>
                <a:srgbClr val="ffffff"/>
              </a:solidFill>
              <a:effectLst/>
              <a:uFillTx/>
              <a:latin typeface="Arial"/>
            </a:endParaRPr>
          </a:p>
        </p:txBody>
      </p:sp>
      <p:sp>
        <p:nvSpPr>
          <p:cNvPr id="121" name="Text 2"/>
          <p:cNvSpPr/>
          <p:nvPr/>
        </p:nvSpPr>
        <p:spPr>
          <a:xfrm>
            <a:off x="365760" y="960120"/>
            <a:ext cx="841212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rPr>
              <a:t>Causal Embedding Model v2</a:t>
            </a:r>
            <a:endParaRPr lang="en-US" sz="2800" b="0" u="none" strike="noStrike">
              <a:solidFill>
                <a:srgbClr val="ffffff"/>
              </a:solidFill>
              <a:effectLst/>
              <a:uFillTx/>
              <a:latin typeface="Arial"/>
            </a:endParaRPr>
          </a:p>
        </p:txBody>
      </p:sp>
      <p:sp>
        <p:nvSpPr>
          <p:cNvPr id="122" name="Shape 3"/>
          <p:cNvSpPr/>
          <p:nvPr/>
        </p:nvSpPr>
        <p:spPr>
          <a:xfrm>
            <a:off x="365760" y="1554480"/>
            <a:ext cx="8412120" cy="658080"/>
          </a:xfrm>
          <a:prstGeom prst="rect">
            <a:avLst/>
          </a:prstGeom>
          <a:solidFill>
            <a:srgbClr val="161b22"/>
          </a:solidFill>
          <a:ln w="6350">
            <a:solidFill>
              <a:srgbClr val="8b5cf6"/>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23" name="Shape 4"/>
          <p:cNvSpPr/>
          <p:nvPr/>
        </p:nvSpPr>
        <p:spPr>
          <a:xfrm>
            <a:off x="365760" y="1554480"/>
            <a:ext cx="45360" cy="658080"/>
          </a:xfrm>
          <a:prstGeom prst="rect">
            <a:avLst/>
          </a:prstGeom>
          <a:solidFill>
            <a:srgbClr val="8b5cf6"/>
          </a:solidFill>
          <a:ln w="12700">
            <a:solidFill>
              <a:srgbClr val="8b5cf6"/>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24" name="Text 5"/>
          <p:cNvSpPr/>
          <p:nvPr/>
        </p:nvSpPr>
        <p:spPr>
          <a:xfrm>
            <a:off x="502920" y="1572840"/>
            <a:ext cx="8137800" cy="621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e6edf3"/>
                </a:solidFill>
                <a:effectLst/>
                <a:uFillTx/>
                <a:latin typeface="Calibri"/>
              </a:rPr>
              <a:t>Retrain the embedding model with a directed, asymmetric objective (Transfer Entropy / Granger distillation) so the 128-dim embedding space encodes causal influence — not just shape similarity. Use the target series as a query vector to retrieve high-impact covariates from 200M series via fast vector search, replacing expensive O(n²) explicit Granger/TE computation.</a:t>
            </a:r>
            <a:endParaRPr lang="en-US" sz="1100" b="0" u="none" strike="noStrike">
              <a:solidFill>
                <a:srgbClr val="ffffff"/>
              </a:solidFill>
              <a:effectLst/>
              <a:uFillTx/>
              <a:latin typeface="Arial"/>
            </a:endParaRPr>
          </a:p>
        </p:txBody>
      </p:sp>
      <p:sp>
        <p:nvSpPr>
          <p:cNvPr id="125" name="Shape 6"/>
          <p:cNvSpPr/>
          <p:nvPr/>
        </p:nvSpPr>
        <p:spPr>
          <a:xfrm>
            <a:off x="365760" y="2304360"/>
            <a:ext cx="2742840" cy="2331360"/>
          </a:xfrm>
          <a:prstGeom prst="rect">
            <a:avLst/>
          </a:prstGeom>
          <a:solidFill>
            <a:srgbClr val="161b22"/>
          </a:solidFill>
          <a:ln w="6350">
            <a:solidFill>
              <a:srgbClr val="21262d"/>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26" name="Shape 7"/>
          <p:cNvSpPr/>
          <p:nvPr/>
        </p:nvSpPr>
        <p:spPr>
          <a:xfrm>
            <a:off x="365760" y="2304360"/>
            <a:ext cx="2742840" cy="292320"/>
          </a:xfrm>
          <a:prstGeom prst="rect">
            <a:avLst/>
          </a:prstGeom>
          <a:solidFill>
            <a:srgbClr val="8b5cf6">
              <a:alpha val="30000"/>
            </a:srgbClr>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27" name="Text 8"/>
          <p:cNvSpPr/>
          <p:nvPr/>
        </p:nvSpPr>
        <p:spPr>
          <a:xfrm>
            <a:off x="475560" y="2304360"/>
            <a:ext cx="2523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rPr>
              <a:t>Current bottleneck</a:t>
            </a:r>
            <a:endParaRPr lang="en-US" sz="1000" b="0" u="none" strike="noStrike">
              <a:solidFill>
                <a:srgbClr val="ffffff"/>
              </a:solidFill>
              <a:effectLst/>
              <a:uFillTx/>
              <a:latin typeface="Arial"/>
            </a:endParaRPr>
          </a:p>
        </p:txBody>
      </p:sp>
      <p:sp>
        <p:nvSpPr>
          <p:cNvPr id="128" name="Text 9"/>
          <p:cNvSpPr/>
          <p:nvPr/>
        </p:nvSpPr>
        <p:spPr>
          <a:xfrm>
            <a:off x="475560" y="2651760"/>
            <a:ext cx="2523240" cy="1919880"/>
          </a:xfrm>
          <a:prstGeom prst="rect">
            <a:avLst/>
          </a:prstGeom>
          <a:noFill/>
          <a:ln w="0">
            <a:noFill/>
          </a:ln>
        </p:spPr>
        <p:style>
          <a:lnRef idx="0"/>
          <a:fillRef idx="0"/>
          <a:effectRef idx="0"/>
          <a:fontRef idx="minor"/>
        </p:style>
        <p:txBody>
          <a:bodyPr lIns="90000" rIns="90000" tIns="45000" bIns="45000" anchor="t">
            <a:noAutofit/>
          </a:bodyPr>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Feature selection today runs Granger / Transfer Entropy selectors explicitly — O(n²) on series count.</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With 200M available series, exhaustive TE computation is computationally intractable.</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Analysts select covariates manually or from a small pre-filtered set, leaving signal on the table.</a:t>
            </a:r>
            <a:endParaRPr lang="en-US" sz="950" b="0" u="none" strike="noStrike">
              <a:solidFill>
                <a:srgbClr val="ffffff"/>
              </a:solidFill>
              <a:effectLst/>
              <a:uFillTx/>
              <a:latin typeface="Arial"/>
            </a:endParaRPr>
          </a:p>
        </p:txBody>
      </p:sp>
      <p:sp>
        <p:nvSpPr>
          <p:cNvPr id="129" name="Shape 10"/>
          <p:cNvSpPr/>
          <p:nvPr/>
        </p:nvSpPr>
        <p:spPr>
          <a:xfrm>
            <a:off x="3246120" y="2304360"/>
            <a:ext cx="2742840" cy="2331360"/>
          </a:xfrm>
          <a:prstGeom prst="rect">
            <a:avLst/>
          </a:prstGeom>
          <a:solidFill>
            <a:srgbClr val="161b22"/>
          </a:solidFill>
          <a:ln w="6350">
            <a:solidFill>
              <a:srgbClr val="21262d"/>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30" name="Shape 11"/>
          <p:cNvSpPr/>
          <p:nvPr/>
        </p:nvSpPr>
        <p:spPr>
          <a:xfrm>
            <a:off x="3246120" y="2304360"/>
            <a:ext cx="2742840" cy="292320"/>
          </a:xfrm>
          <a:prstGeom prst="rect">
            <a:avLst/>
          </a:prstGeom>
          <a:solidFill>
            <a:srgbClr val="8b5cf6">
              <a:alpha val="30000"/>
            </a:srgbClr>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31" name="Text 12"/>
          <p:cNvSpPr/>
          <p:nvPr/>
        </p:nvSpPr>
        <p:spPr>
          <a:xfrm>
            <a:off x="3355920" y="2304360"/>
            <a:ext cx="2523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rPr>
              <a:t>How it works</a:t>
            </a:r>
            <a:endParaRPr lang="en-US" sz="1000" b="0" u="none" strike="noStrike">
              <a:solidFill>
                <a:srgbClr val="ffffff"/>
              </a:solidFill>
              <a:effectLst/>
              <a:uFillTx/>
              <a:latin typeface="Arial"/>
            </a:endParaRPr>
          </a:p>
        </p:txBody>
      </p:sp>
      <p:sp>
        <p:nvSpPr>
          <p:cNvPr id="132" name="Text 13"/>
          <p:cNvSpPr/>
          <p:nvPr/>
        </p:nvSpPr>
        <p:spPr>
          <a:xfrm>
            <a:off x="3355920" y="2651760"/>
            <a:ext cx="2523240" cy="1919880"/>
          </a:xfrm>
          <a:prstGeom prst="rect">
            <a:avLst/>
          </a:prstGeom>
          <a:noFill/>
          <a:ln w="0">
            <a:noFill/>
          </a:ln>
        </p:spPr>
        <p:style>
          <a:lnRef idx="0"/>
          <a:fillRef idx="0"/>
          <a:effectRef idx="0"/>
          <a:fontRef idx="minor"/>
        </p:style>
        <p:txBody>
          <a:bodyPr lIns="90000" rIns="90000" tIns="45000" bIns="45000" anchor="t">
            <a:noAutofit/>
          </a:bodyPr>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Precompute pairwise TE scores on a subset of series (distillation approach — tractable on small team).</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Use scores as soft labels to train a directed embedding space where proximity ≈ causal influence.</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At inference: embed target TS → vector search over 200M embeddings → retrieve top-k causal drivers in milliseconds.</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No symmetric DTW — the space is asymmetric: A→B ≠ B→A.</a:t>
            </a:r>
            <a:endParaRPr lang="en-US" sz="950" b="0" u="none" strike="noStrike">
              <a:solidFill>
                <a:srgbClr val="ffffff"/>
              </a:solidFill>
              <a:effectLst/>
              <a:uFillTx/>
              <a:latin typeface="Arial"/>
            </a:endParaRPr>
          </a:p>
        </p:txBody>
      </p:sp>
      <p:sp>
        <p:nvSpPr>
          <p:cNvPr id="133" name="Shape 14"/>
          <p:cNvSpPr/>
          <p:nvPr/>
        </p:nvSpPr>
        <p:spPr>
          <a:xfrm>
            <a:off x="6126480" y="2304360"/>
            <a:ext cx="2742840" cy="2331360"/>
          </a:xfrm>
          <a:prstGeom prst="rect">
            <a:avLst/>
          </a:prstGeom>
          <a:solidFill>
            <a:srgbClr val="161b22"/>
          </a:solidFill>
          <a:ln w="6350">
            <a:solidFill>
              <a:srgbClr val="21262d"/>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34" name="Shape 15"/>
          <p:cNvSpPr/>
          <p:nvPr/>
        </p:nvSpPr>
        <p:spPr>
          <a:xfrm>
            <a:off x="6126480" y="2304360"/>
            <a:ext cx="2742840" cy="292320"/>
          </a:xfrm>
          <a:prstGeom prst="rect">
            <a:avLst/>
          </a:prstGeom>
          <a:solidFill>
            <a:srgbClr val="8b5cf6">
              <a:alpha val="30000"/>
            </a:srgbClr>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35" name="Text 16"/>
          <p:cNvSpPr/>
          <p:nvPr/>
        </p:nvSpPr>
        <p:spPr>
          <a:xfrm>
            <a:off x="6236280" y="2304360"/>
            <a:ext cx="2523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rPr>
              <a:t>Why it matters</a:t>
            </a:r>
            <a:endParaRPr lang="en-US" sz="1000" b="0" u="none" strike="noStrike">
              <a:solidFill>
                <a:srgbClr val="ffffff"/>
              </a:solidFill>
              <a:effectLst/>
              <a:uFillTx/>
              <a:latin typeface="Arial"/>
            </a:endParaRPr>
          </a:p>
        </p:txBody>
      </p:sp>
      <p:sp>
        <p:nvSpPr>
          <p:cNvPr id="136" name="Text 17"/>
          <p:cNvSpPr/>
          <p:nvPr/>
        </p:nvSpPr>
        <p:spPr>
          <a:xfrm>
            <a:off x="6236280" y="2651760"/>
            <a:ext cx="2523240" cy="1919880"/>
          </a:xfrm>
          <a:prstGeom prst="rect">
            <a:avLst/>
          </a:prstGeom>
          <a:noFill/>
          <a:ln w="0">
            <a:noFill/>
          </a:ln>
        </p:spPr>
        <p:style>
          <a:lnRef idx="0"/>
          <a:fillRef idx="0"/>
          <a:effectRef idx="0"/>
          <a:fontRef idx="minor"/>
        </p:style>
        <p:txBody>
          <a:bodyPr lIns="90000" rIns="90000" tIns="45000" bIns="45000" anchor="t">
            <a:noAutofit/>
          </a:bodyPr>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100–1000× faster covariate discovery vs. explicit Granger/TE selection.</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No published equivalent — novel contribution, defensible moat.</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Data flywheel: more usage → richer causal graph across 200M series.</a:t>
            </a:r>
            <a:endParaRPr lang="en-US" sz="950" b="0" u="none" strike="noStrike">
              <a:solidFill>
                <a:srgbClr val="ffffff"/>
              </a:solidFill>
              <a:effectLst/>
              <a:uFillTx/>
              <a:latin typeface="Arial"/>
            </a:endParaRPr>
          </a:p>
          <a:p>
            <a:pPr marL="343080" indent="-343080" defTabSz="914400">
              <a:lnSpc>
                <a:spcPct val="100000"/>
              </a:lnSpc>
              <a:spcAft>
                <a:spcPts val="400"/>
              </a:spcAft>
              <a:buClr>
                <a:srgbClr val="e6edf3"/>
              </a:buClr>
              <a:buFont typeface="Symbol" charset="2"/>
              <a:buChar char=""/>
            </a:pPr>
            <a:r>
              <a:rPr lang="en-US" sz="950" b="0" u="none" strike="noStrike">
                <a:solidFill>
                  <a:srgbClr val="e6edf3"/>
                </a:solidFill>
                <a:effectLst/>
                <a:uFillTx/>
                <a:latin typeface="Calibri"/>
              </a:rPr>
              <a:t>Directly feeds P1: causal covariate embeddings replace shape-similarity embeddings in the attention layer, making P1 materially more powerful.</a:t>
            </a:r>
            <a:endParaRPr lang="en-US" sz="950" b="0" u="none" strike="noStrike">
              <a:solidFill>
                <a:srgbClr val="ffffff"/>
              </a:solidFill>
              <a:effectLst/>
              <a:uFillTx/>
              <a:latin typeface="Arial"/>
            </a:endParaRPr>
          </a:p>
        </p:txBody>
      </p:sp>
      <p:sp>
        <p:nvSpPr>
          <p:cNvPr id="137" name="Shape 18"/>
          <p:cNvSpPr/>
          <p:nvPr/>
        </p:nvSpPr>
        <p:spPr>
          <a:xfrm>
            <a:off x="365760" y="4681800"/>
            <a:ext cx="1992960" cy="347040"/>
          </a:xfrm>
          <a:prstGeom prst="rect">
            <a:avLst/>
          </a:prstGeom>
          <a:solidFill>
            <a:srgbClr val="161b22"/>
          </a:solidFill>
          <a:ln w="6350">
            <a:solidFill>
              <a:srgbClr val="8b5cf6"/>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38" name="Text 19"/>
          <p:cNvSpPr/>
          <p:nvPr/>
        </p:nvSpPr>
        <p:spPr>
          <a:xfrm>
            <a:off x="457200" y="469080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8b949e"/>
                </a:solidFill>
                <a:effectLst/>
                <a:uFillTx/>
                <a:latin typeface="Calibri"/>
              </a:rPr>
              <a:t>Horizon</a:t>
            </a:r>
            <a:endParaRPr lang="en-US" sz="800" b="0" u="none" strike="noStrike">
              <a:solidFill>
                <a:srgbClr val="ffffff"/>
              </a:solidFill>
              <a:effectLst/>
              <a:uFillTx/>
              <a:latin typeface="Arial"/>
            </a:endParaRPr>
          </a:p>
        </p:txBody>
      </p:sp>
      <p:sp>
        <p:nvSpPr>
          <p:cNvPr id="139" name="Text 20"/>
          <p:cNvSpPr/>
          <p:nvPr/>
        </p:nvSpPr>
        <p:spPr>
          <a:xfrm>
            <a:off x="457200" y="483732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8b5cf6"/>
                </a:solidFill>
                <a:effectLst/>
                <a:uFillTx/>
                <a:latin typeface="Calibri"/>
              </a:rPr>
              <a:t>6–9 months</a:t>
            </a:r>
            <a:endParaRPr lang="en-US" sz="900" b="0" u="none" strike="noStrike">
              <a:solidFill>
                <a:srgbClr val="ffffff"/>
              </a:solidFill>
              <a:effectLst/>
              <a:uFillTx/>
              <a:latin typeface="Arial"/>
            </a:endParaRPr>
          </a:p>
        </p:txBody>
      </p:sp>
      <p:sp>
        <p:nvSpPr>
          <p:cNvPr id="140" name="Shape 21"/>
          <p:cNvSpPr/>
          <p:nvPr/>
        </p:nvSpPr>
        <p:spPr>
          <a:xfrm>
            <a:off x="2496240" y="4681800"/>
            <a:ext cx="1992960" cy="347040"/>
          </a:xfrm>
          <a:prstGeom prst="rect">
            <a:avLst/>
          </a:prstGeom>
          <a:solidFill>
            <a:srgbClr val="161b22"/>
          </a:solidFill>
          <a:ln w="6350">
            <a:solidFill>
              <a:srgbClr val="e8a838"/>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41" name="Text 22"/>
          <p:cNvSpPr/>
          <p:nvPr/>
        </p:nvSpPr>
        <p:spPr>
          <a:xfrm>
            <a:off x="2587680" y="469080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8b949e"/>
                </a:solidFill>
                <a:effectLst/>
                <a:uFillTx/>
                <a:latin typeface="Calibri"/>
              </a:rPr>
              <a:t>Team cost</a:t>
            </a:r>
            <a:endParaRPr lang="en-US" sz="800" b="0" u="none" strike="noStrike">
              <a:solidFill>
                <a:srgbClr val="ffffff"/>
              </a:solidFill>
              <a:effectLst/>
              <a:uFillTx/>
              <a:latin typeface="Arial"/>
            </a:endParaRPr>
          </a:p>
        </p:txBody>
      </p:sp>
      <p:sp>
        <p:nvSpPr>
          <p:cNvPr id="142" name="Text 23"/>
          <p:cNvSpPr/>
          <p:nvPr/>
        </p:nvSpPr>
        <p:spPr>
          <a:xfrm>
            <a:off x="2587680" y="483732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e8a838"/>
                </a:solidFill>
                <a:effectLst/>
                <a:uFillTx/>
                <a:latin typeface="Calibri"/>
              </a:rPr>
              <a:t>Medium — research track</a:t>
            </a:r>
            <a:endParaRPr lang="en-US" sz="900" b="0" u="none" strike="noStrike">
              <a:solidFill>
                <a:srgbClr val="ffffff"/>
              </a:solidFill>
              <a:effectLst/>
              <a:uFillTx/>
              <a:latin typeface="Arial"/>
            </a:endParaRPr>
          </a:p>
        </p:txBody>
      </p:sp>
      <p:sp>
        <p:nvSpPr>
          <p:cNvPr id="143" name="Shape 24"/>
          <p:cNvSpPr/>
          <p:nvPr/>
        </p:nvSpPr>
        <p:spPr>
          <a:xfrm>
            <a:off x="4626720" y="4681800"/>
            <a:ext cx="1992960" cy="347040"/>
          </a:xfrm>
          <a:prstGeom prst="rect">
            <a:avLst/>
          </a:prstGeom>
          <a:solidFill>
            <a:srgbClr val="161b22"/>
          </a:solidFill>
          <a:ln w="6350">
            <a:solidFill>
              <a:srgbClr val="8b5cf6"/>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44" name="Text 25"/>
          <p:cNvSpPr/>
          <p:nvPr/>
        </p:nvSpPr>
        <p:spPr>
          <a:xfrm>
            <a:off x="4718160" y="469080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8b949e"/>
                </a:solidFill>
                <a:effectLst/>
                <a:uFillTx/>
                <a:latin typeface="Calibri"/>
              </a:rPr>
              <a:t>Primary value</a:t>
            </a:r>
            <a:endParaRPr lang="en-US" sz="800" b="0" u="none" strike="noStrike">
              <a:solidFill>
                <a:srgbClr val="ffffff"/>
              </a:solidFill>
              <a:effectLst/>
              <a:uFillTx/>
              <a:latin typeface="Arial"/>
            </a:endParaRPr>
          </a:p>
        </p:txBody>
      </p:sp>
      <p:sp>
        <p:nvSpPr>
          <p:cNvPr id="145" name="Text 26"/>
          <p:cNvSpPr/>
          <p:nvPr/>
        </p:nvSpPr>
        <p:spPr>
          <a:xfrm>
            <a:off x="4718160" y="483732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8b5cf6"/>
                </a:solidFill>
                <a:effectLst/>
                <a:uFillTx/>
                <a:latin typeface="Calibri"/>
              </a:rPr>
              <a:t>Speed + moat</a:t>
            </a:r>
            <a:endParaRPr lang="en-US" sz="900" b="0" u="none" strike="noStrike">
              <a:solidFill>
                <a:srgbClr val="ffffff"/>
              </a:solidFill>
              <a:effectLst/>
              <a:uFillTx/>
              <a:latin typeface="Arial"/>
            </a:endParaRPr>
          </a:p>
        </p:txBody>
      </p:sp>
      <p:sp>
        <p:nvSpPr>
          <p:cNvPr id="146" name="Shape 27"/>
          <p:cNvSpPr/>
          <p:nvPr/>
        </p:nvSpPr>
        <p:spPr>
          <a:xfrm>
            <a:off x="6757560" y="4681800"/>
            <a:ext cx="1992960" cy="347040"/>
          </a:xfrm>
          <a:prstGeom prst="rect">
            <a:avLst/>
          </a:prstGeom>
          <a:solidFill>
            <a:srgbClr val="161b22"/>
          </a:solidFill>
          <a:ln w="6350">
            <a:solidFill>
              <a:srgbClr val="e05c5c"/>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47" name="Text 28"/>
          <p:cNvSpPr/>
          <p:nvPr/>
        </p:nvSpPr>
        <p:spPr>
          <a:xfrm>
            <a:off x="6849000" y="469080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8b949e"/>
                </a:solidFill>
                <a:effectLst/>
                <a:uFillTx/>
                <a:latin typeface="Calibri"/>
              </a:rPr>
              <a:t>Key risk</a:t>
            </a:r>
            <a:endParaRPr lang="en-US" sz="800" b="0" u="none" strike="noStrike">
              <a:solidFill>
                <a:srgbClr val="ffffff"/>
              </a:solidFill>
              <a:effectLst/>
              <a:uFillTx/>
              <a:latin typeface="Arial"/>
            </a:endParaRPr>
          </a:p>
        </p:txBody>
      </p:sp>
      <p:sp>
        <p:nvSpPr>
          <p:cNvPr id="148" name="Text 29"/>
          <p:cNvSpPr/>
          <p:nvPr/>
        </p:nvSpPr>
        <p:spPr>
          <a:xfrm>
            <a:off x="6849000" y="483732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e05c5c"/>
                </a:solidFill>
                <a:effectLst/>
                <a:uFillTx/>
                <a:latin typeface="Calibri"/>
              </a:rPr>
              <a:t>Asymmetric geometry convergence</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149" name="Shape 0"/>
          <p:cNvSpPr/>
          <p:nvPr/>
        </p:nvSpPr>
        <p:spPr>
          <a:xfrm>
            <a:off x="365760" y="713160"/>
            <a:ext cx="36360" cy="273960"/>
          </a:xfrm>
          <a:prstGeom prst="rect">
            <a:avLst/>
          </a:prstGeom>
          <a:solidFill>
            <a:srgbClr val="e8a838"/>
          </a:solidFill>
          <a:ln w="12700">
            <a:solidFill>
              <a:srgbClr val="e8a838"/>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150" name="Text 1"/>
          <p:cNvSpPr/>
          <p:nvPr/>
        </p:nvSpPr>
        <p:spPr>
          <a:xfrm>
            <a:off x="475560" y="685800"/>
            <a:ext cx="457164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e8a838"/>
                </a:solidFill>
                <a:effectLst/>
                <a:uFillTx/>
                <a:latin typeface="Calibri"/>
              </a:rPr>
              <a:t>Project 3</a:t>
            </a:r>
            <a:endParaRPr lang="en-US" sz="1100" b="0" u="none" strike="noStrike">
              <a:solidFill>
                <a:srgbClr val="ffffff"/>
              </a:solidFill>
              <a:effectLst/>
              <a:uFillTx/>
              <a:latin typeface="Arial"/>
            </a:endParaRPr>
          </a:p>
        </p:txBody>
      </p:sp>
      <p:sp>
        <p:nvSpPr>
          <p:cNvPr id="151" name="Text 2"/>
          <p:cNvSpPr/>
          <p:nvPr/>
        </p:nvSpPr>
        <p:spPr>
          <a:xfrm>
            <a:off x="365760" y="960120"/>
            <a:ext cx="841212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rPr>
              <a:t>Scenario Engine</a:t>
            </a:r>
            <a:endParaRPr lang="en-US" sz="2800" b="0" u="none" strike="noStrike">
              <a:solidFill>
                <a:srgbClr val="ffffff"/>
              </a:solidFill>
              <a:effectLst/>
              <a:uFillTx/>
              <a:latin typeface="Arial"/>
            </a:endParaRPr>
          </a:p>
        </p:txBody>
      </p:sp>
      <p:sp>
        <p:nvSpPr>
          <p:cNvPr id="152" name="Shape 3"/>
          <p:cNvSpPr/>
          <p:nvPr/>
        </p:nvSpPr>
        <p:spPr>
          <a:xfrm>
            <a:off x="365760" y="1554480"/>
            <a:ext cx="8412120" cy="658080"/>
          </a:xfrm>
          <a:prstGeom prst="rect">
            <a:avLst/>
          </a:prstGeom>
          <a:solidFill>
            <a:srgbClr val="161b22"/>
          </a:solidFill>
          <a:ln w="6350">
            <a:solidFill>
              <a:srgbClr val="e8a838"/>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53" name="Shape 4"/>
          <p:cNvSpPr/>
          <p:nvPr/>
        </p:nvSpPr>
        <p:spPr>
          <a:xfrm>
            <a:off x="365760" y="1554480"/>
            <a:ext cx="45360" cy="658080"/>
          </a:xfrm>
          <a:prstGeom prst="rect">
            <a:avLst/>
          </a:prstGeom>
          <a:solidFill>
            <a:srgbClr val="e8a838"/>
          </a:solidFill>
          <a:ln w="12700">
            <a:solidFill>
              <a:srgbClr val="e8a838"/>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154" name="Text 5"/>
          <p:cNvSpPr/>
          <p:nvPr/>
        </p:nvSpPr>
        <p:spPr>
          <a:xfrm>
            <a:off x="502920" y="1572840"/>
            <a:ext cx="8137800" cy="621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e6edf3"/>
                </a:solidFill>
                <a:effectLst/>
                <a:uFillTx/>
                <a:latin typeface="Calibri"/>
              </a:rPr>
              <a:t>CPCV-validated linear models with causal feature selection power interpretable 'if-then' scenario queries. If cotton futures rise 15%, what happens to yarn procurement cost? Output: expected impact + confidence interval + named causal drivers. Optionally extended with Bayesian / MCMC posteriors for full distribution over outcomes.</a:t>
            </a:r>
            <a:endParaRPr lang="en-US" sz="1100" b="0" u="none" strike="noStrike">
              <a:solidFill>
                <a:srgbClr val="ffffff"/>
              </a:solidFill>
              <a:effectLst/>
              <a:uFillTx/>
              <a:latin typeface="Arial"/>
            </a:endParaRPr>
          </a:p>
        </p:txBody>
      </p:sp>
      <p:sp>
        <p:nvSpPr>
          <p:cNvPr id="155" name="Shape 6"/>
          <p:cNvSpPr/>
          <p:nvPr/>
        </p:nvSpPr>
        <p:spPr>
          <a:xfrm>
            <a:off x="365760" y="2304360"/>
            <a:ext cx="4114440" cy="2331360"/>
          </a:xfrm>
          <a:prstGeom prst="rect">
            <a:avLst/>
          </a:prstGeom>
          <a:solidFill>
            <a:srgbClr val="161b22"/>
          </a:solidFill>
          <a:ln w="6350">
            <a:solidFill>
              <a:srgbClr val="21262d"/>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56" name="Shape 7"/>
          <p:cNvSpPr/>
          <p:nvPr/>
        </p:nvSpPr>
        <p:spPr>
          <a:xfrm>
            <a:off x="365760" y="2304360"/>
            <a:ext cx="4114440" cy="292320"/>
          </a:xfrm>
          <a:prstGeom prst="rect">
            <a:avLst/>
          </a:prstGeom>
          <a:solidFill>
            <a:srgbClr val="e8a838">
              <a:alpha val="30000"/>
            </a:srgbClr>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157" name="Text 8"/>
          <p:cNvSpPr/>
          <p:nvPr/>
        </p:nvSpPr>
        <p:spPr>
          <a:xfrm>
            <a:off x="475560" y="2304360"/>
            <a:ext cx="3894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rPr>
              <a:t>Customer evidence (20 interviews)</a:t>
            </a:r>
            <a:endParaRPr lang="en-US" sz="1000" b="0" u="none" strike="noStrike">
              <a:solidFill>
                <a:srgbClr val="ffffff"/>
              </a:solidFill>
              <a:effectLst/>
              <a:uFillTx/>
              <a:latin typeface="Arial"/>
            </a:endParaRPr>
          </a:p>
        </p:txBody>
      </p:sp>
      <p:sp>
        <p:nvSpPr>
          <p:cNvPr id="158" name="Text 9"/>
          <p:cNvSpPr/>
          <p:nvPr/>
        </p:nvSpPr>
        <p:spPr>
          <a:xfrm>
            <a:off x="502920" y="2651760"/>
            <a:ext cx="3200040" cy="402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i="1" u="none" strike="noStrike">
                <a:solidFill>
                  <a:srgbClr val="e6edf3"/>
                </a:solidFill>
                <a:effectLst/>
                <a:uFillTx/>
                <a:latin typeface="Calibri"/>
              </a:rPr>
              <a:t>"We negotiate blind against our suppliers"</a:t>
            </a:r>
            <a:endParaRPr lang="en-US" sz="950" b="0" u="none" strike="noStrike">
              <a:solidFill>
                <a:srgbClr val="ffffff"/>
              </a:solidFill>
              <a:effectLst/>
              <a:uFillTx/>
              <a:latin typeface="Arial"/>
            </a:endParaRPr>
          </a:p>
        </p:txBody>
      </p:sp>
      <p:sp>
        <p:nvSpPr>
          <p:cNvPr id="159" name="Shape 10"/>
          <p:cNvSpPr/>
          <p:nvPr/>
        </p:nvSpPr>
        <p:spPr>
          <a:xfrm>
            <a:off x="3749040" y="2724840"/>
            <a:ext cx="594000" cy="237240"/>
          </a:xfrm>
          <a:prstGeom prst="roundRect">
            <a:avLst>
              <a:gd name="adj" fmla="val 19231"/>
            </a:avLst>
          </a:prstGeom>
          <a:solidFill>
            <a:srgbClr val="e8a838">
              <a:alpha val="30000"/>
            </a:srgbClr>
          </a:solidFill>
          <a:ln w="6350">
            <a:solidFill>
              <a:srgbClr val="e8a838"/>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160" name="Text 11"/>
          <p:cNvSpPr/>
          <p:nvPr/>
        </p:nvSpPr>
        <p:spPr>
          <a:xfrm>
            <a:off x="3749040" y="2724840"/>
            <a:ext cx="59400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900" b="1" u="none" strike="noStrike">
                <a:solidFill>
                  <a:srgbClr val="e8a838"/>
                </a:solidFill>
                <a:effectLst/>
                <a:uFillTx/>
                <a:latin typeface="Calibri"/>
              </a:rPr>
              <a:t>17/20</a:t>
            </a:r>
            <a:endParaRPr lang="en-US" sz="900" b="0" u="none" strike="noStrike">
              <a:solidFill>
                <a:srgbClr val="ffffff"/>
              </a:solidFill>
              <a:effectLst/>
              <a:uFillTx/>
              <a:latin typeface="Arial"/>
            </a:endParaRPr>
          </a:p>
        </p:txBody>
      </p:sp>
      <p:sp>
        <p:nvSpPr>
          <p:cNvPr id="161" name="Text 12"/>
          <p:cNvSpPr/>
          <p:nvPr/>
        </p:nvSpPr>
        <p:spPr>
          <a:xfrm>
            <a:off x="502920" y="3127320"/>
            <a:ext cx="3200040" cy="402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i="1" u="none" strike="noStrike">
                <a:solidFill>
                  <a:srgbClr val="e6edf3"/>
                </a:solidFill>
                <a:effectLst/>
                <a:uFillTx/>
                <a:latin typeface="Calibri"/>
              </a:rPr>
              <a:t>"Our forecasts aren't trusted enough to act on"</a:t>
            </a:r>
            <a:endParaRPr lang="en-US" sz="950" b="0" u="none" strike="noStrike">
              <a:solidFill>
                <a:srgbClr val="ffffff"/>
              </a:solidFill>
              <a:effectLst/>
              <a:uFillTx/>
              <a:latin typeface="Arial"/>
            </a:endParaRPr>
          </a:p>
        </p:txBody>
      </p:sp>
      <p:sp>
        <p:nvSpPr>
          <p:cNvPr id="162" name="Shape 13"/>
          <p:cNvSpPr/>
          <p:nvPr/>
        </p:nvSpPr>
        <p:spPr>
          <a:xfrm>
            <a:off x="3749040" y="3200400"/>
            <a:ext cx="594000" cy="237240"/>
          </a:xfrm>
          <a:prstGeom prst="roundRect">
            <a:avLst>
              <a:gd name="adj" fmla="val 19231"/>
            </a:avLst>
          </a:prstGeom>
          <a:solidFill>
            <a:srgbClr val="e8a838">
              <a:alpha val="30000"/>
            </a:srgbClr>
          </a:solidFill>
          <a:ln w="6350">
            <a:solidFill>
              <a:srgbClr val="e8a838"/>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163" name="Text 14"/>
          <p:cNvSpPr/>
          <p:nvPr/>
        </p:nvSpPr>
        <p:spPr>
          <a:xfrm>
            <a:off x="3749040" y="3200400"/>
            <a:ext cx="59400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900" b="1" u="none" strike="noStrike">
                <a:solidFill>
                  <a:srgbClr val="e8a838"/>
                </a:solidFill>
                <a:effectLst/>
                <a:uFillTx/>
                <a:latin typeface="Calibri"/>
              </a:rPr>
              <a:t>14/20</a:t>
            </a:r>
            <a:endParaRPr lang="en-US" sz="900" b="0" u="none" strike="noStrike">
              <a:solidFill>
                <a:srgbClr val="ffffff"/>
              </a:solidFill>
              <a:effectLst/>
              <a:uFillTx/>
              <a:latin typeface="Arial"/>
            </a:endParaRPr>
          </a:p>
        </p:txBody>
      </p:sp>
      <p:sp>
        <p:nvSpPr>
          <p:cNvPr id="164" name="Text 15"/>
          <p:cNvSpPr/>
          <p:nvPr/>
        </p:nvSpPr>
        <p:spPr>
          <a:xfrm>
            <a:off x="502920" y="3602880"/>
            <a:ext cx="3200040" cy="402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i="1" u="none" strike="noStrike">
                <a:solidFill>
                  <a:srgbClr val="e6edf3"/>
                </a:solidFill>
                <a:effectLst/>
                <a:uFillTx/>
                <a:latin typeface="Calibri"/>
              </a:rPr>
              <a:t>"By the time we were sure, the window was closed"</a:t>
            </a:r>
            <a:endParaRPr lang="en-US" sz="950" b="0" u="none" strike="noStrike">
              <a:solidFill>
                <a:srgbClr val="ffffff"/>
              </a:solidFill>
              <a:effectLst/>
              <a:uFillTx/>
              <a:latin typeface="Arial"/>
            </a:endParaRPr>
          </a:p>
        </p:txBody>
      </p:sp>
      <p:sp>
        <p:nvSpPr>
          <p:cNvPr id="165" name="Shape 16"/>
          <p:cNvSpPr/>
          <p:nvPr/>
        </p:nvSpPr>
        <p:spPr>
          <a:xfrm>
            <a:off x="3749040" y="3675960"/>
            <a:ext cx="594000" cy="237240"/>
          </a:xfrm>
          <a:prstGeom prst="roundRect">
            <a:avLst>
              <a:gd name="adj" fmla="val 19231"/>
            </a:avLst>
          </a:prstGeom>
          <a:solidFill>
            <a:srgbClr val="e8a838">
              <a:alpha val="30000"/>
            </a:srgbClr>
          </a:solidFill>
          <a:ln w="6350">
            <a:solidFill>
              <a:srgbClr val="e8a838"/>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166" name="Text 17"/>
          <p:cNvSpPr/>
          <p:nvPr/>
        </p:nvSpPr>
        <p:spPr>
          <a:xfrm>
            <a:off x="3749040" y="3675960"/>
            <a:ext cx="59400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900" b="1" u="none" strike="noStrike">
                <a:solidFill>
                  <a:srgbClr val="e8a838"/>
                </a:solidFill>
                <a:effectLst/>
                <a:uFillTx/>
                <a:latin typeface="Calibri"/>
              </a:rPr>
              <a:t>12/20</a:t>
            </a:r>
            <a:endParaRPr lang="en-US" sz="900" b="0" u="none" strike="noStrike">
              <a:solidFill>
                <a:srgbClr val="ffffff"/>
              </a:solidFill>
              <a:effectLst/>
              <a:uFillTx/>
              <a:latin typeface="Arial"/>
            </a:endParaRPr>
          </a:p>
        </p:txBody>
      </p:sp>
      <p:sp>
        <p:nvSpPr>
          <p:cNvPr id="167" name="Text 18"/>
          <p:cNvSpPr/>
          <p:nvPr/>
        </p:nvSpPr>
        <p:spPr>
          <a:xfrm>
            <a:off x="502920" y="4078080"/>
            <a:ext cx="3200040" cy="402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i="1" u="none" strike="noStrike">
                <a:solidFill>
                  <a:srgbClr val="e6edf3"/>
                </a:solidFill>
                <a:effectLst/>
                <a:uFillTx/>
                <a:latin typeface="Calibri"/>
              </a:rPr>
              <a:t>"We see the signal — but don't know what to do with it"</a:t>
            </a:r>
            <a:endParaRPr lang="en-US" sz="950" b="0" u="none" strike="noStrike">
              <a:solidFill>
                <a:srgbClr val="ffffff"/>
              </a:solidFill>
              <a:effectLst/>
              <a:uFillTx/>
              <a:latin typeface="Arial"/>
            </a:endParaRPr>
          </a:p>
        </p:txBody>
      </p:sp>
      <p:sp>
        <p:nvSpPr>
          <p:cNvPr id="168" name="Shape 19"/>
          <p:cNvSpPr/>
          <p:nvPr/>
        </p:nvSpPr>
        <p:spPr>
          <a:xfrm>
            <a:off x="3749040" y="4151520"/>
            <a:ext cx="594000" cy="237240"/>
          </a:xfrm>
          <a:prstGeom prst="roundRect">
            <a:avLst>
              <a:gd name="adj" fmla="val 19231"/>
            </a:avLst>
          </a:prstGeom>
          <a:solidFill>
            <a:srgbClr val="e8a838">
              <a:alpha val="30000"/>
            </a:srgbClr>
          </a:solidFill>
          <a:ln w="6350">
            <a:solidFill>
              <a:srgbClr val="e8a838"/>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169" name="Text 20"/>
          <p:cNvSpPr/>
          <p:nvPr/>
        </p:nvSpPr>
        <p:spPr>
          <a:xfrm>
            <a:off x="3749040" y="4151520"/>
            <a:ext cx="59400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900" b="1" u="none" strike="noStrike">
                <a:solidFill>
                  <a:srgbClr val="e8a838"/>
                </a:solidFill>
                <a:effectLst/>
                <a:uFillTx/>
                <a:latin typeface="Calibri"/>
              </a:rPr>
              <a:t>10/20</a:t>
            </a:r>
            <a:endParaRPr lang="en-US" sz="900" b="0" u="none" strike="noStrike">
              <a:solidFill>
                <a:srgbClr val="ffffff"/>
              </a:solidFill>
              <a:effectLst/>
              <a:uFillTx/>
              <a:latin typeface="Arial"/>
            </a:endParaRPr>
          </a:p>
        </p:txBody>
      </p:sp>
      <p:sp>
        <p:nvSpPr>
          <p:cNvPr id="170" name="Shape 21"/>
          <p:cNvSpPr/>
          <p:nvPr/>
        </p:nvSpPr>
        <p:spPr>
          <a:xfrm>
            <a:off x="4663440" y="2304360"/>
            <a:ext cx="4114440" cy="2331360"/>
          </a:xfrm>
          <a:prstGeom prst="rect">
            <a:avLst/>
          </a:prstGeom>
          <a:solidFill>
            <a:srgbClr val="161b22"/>
          </a:solidFill>
          <a:ln w="6350">
            <a:solidFill>
              <a:srgbClr val="21262d"/>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71" name="Shape 22"/>
          <p:cNvSpPr/>
          <p:nvPr/>
        </p:nvSpPr>
        <p:spPr>
          <a:xfrm>
            <a:off x="4663440" y="2304360"/>
            <a:ext cx="4114440" cy="292320"/>
          </a:xfrm>
          <a:prstGeom prst="rect">
            <a:avLst/>
          </a:prstGeom>
          <a:solidFill>
            <a:srgbClr val="e8a838">
              <a:alpha val="30000"/>
            </a:srgbClr>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172" name="Text 23"/>
          <p:cNvSpPr/>
          <p:nvPr/>
        </p:nvSpPr>
        <p:spPr>
          <a:xfrm>
            <a:off x="4773240" y="2304360"/>
            <a:ext cx="3894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rPr>
              <a:t>What ships</a:t>
            </a:r>
            <a:endParaRPr lang="en-US" sz="1000" b="0" u="none" strike="noStrike">
              <a:solidFill>
                <a:srgbClr val="ffffff"/>
              </a:solidFill>
              <a:effectLst/>
              <a:uFillTx/>
              <a:latin typeface="Arial"/>
            </a:endParaRPr>
          </a:p>
        </p:txBody>
      </p:sp>
      <p:sp>
        <p:nvSpPr>
          <p:cNvPr id="173" name="Text 24"/>
          <p:cNvSpPr/>
          <p:nvPr/>
        </p:nvSpPr>
        <p:spPr>
          <a:xfrm>
            <a:off x="4773240" y="2651760"/>
            <a:ext cx="3894840" cy="1919880"/>
          </a:xfrm>
          <a:prstGeom prst="rect">
            <a:avLst/>
          </a:prstGeom>
          <a:noFill/>
          <a:ln w="0">
            <a:noFill/>
          </a:ln>
        </p:spPr>
        <p:style>
          <a:lnRef idx="0"/>
          <a:fillRef idx="0"/>
          <a:effectRef idx="0"/>
          <a:fontRef idx="minor"/>
        </p:style>
        <p:txBody>
          <a:bodyPr lIns="90000" rIns="90000" tIns="45000" bIns="45000" anchor="t">
            <a:noAutofit/>
          </a:bodyPr>
          <a:p>
            <a:pPr marL="343080" indent="-343080" defTabSz="914400">
              <a:lnSpc>
                <a:spcPct val="100000"/>
              </a:lnSpc>
              <a:spcAft>
                <a:spcPts val="300"/>
              </a:spcAft>
              <a:buClr>
                <a:srgbClr val="e6edf3"/>
              </a:buClr>
              <a:buFont typeface="Symbol" charset="2"/>
              <a:buChar char=""/>
            </a:pPr>
            <a:r>
              <a:rPr lang="en-US" sz="950" b="0" u="none" strike="noStrike">
                <a:solidFill>
                  <a:srgbClr val="e6edf3"/>
                </a:solidFill>
                <a:effectLst/>
                <a:uFillTx/>
                <a:latin typeface="Calibri"/>
              </a:rPr>
              <a:t>Granger/TE feature selection → CPCV validation → interpretable linear model per commodity pair</a:t>
            </a:r>
            <a:endParaRPr lang="en-US" sz="950" b="0" u="none" strike="noStrike">
              <a:solidFill>
                <a:srgbClr val="ffffff"/>
              </a:solidFill>
              <a:effectLst/>
              <a:uFillTx/>
              <a:latin typeface="Arial"/>
            </a:endParaRPr>
          </a:p>
          <a:p>
            <a:pPr marL="343080" indent="-343080" defTabSz="914400">
              <a:lnSpc>
                <a:spcPct val="100000"/>
              </a:lnSpc>
              <a:spcAft>
                <a:spcPts val="300"/>
              </a:spcAft>
              <a:buClr>
                <a:srgbClr val="e6edf3"/>
              </a:buClr>
              <a:buFont typeface="Symbol" charset="2"/>
              <a:buChar char=""/>
            </a:pPr>
            <a:r>
              <a:rPr lang="en-US" sz="950" b="0" u="none" strike="noStrike">
                <a:solidFill>
                  <a:srgbClr val="e6edf3"/>
                </a:solidFill>
                <a:effectLst/>
                <a:uFillTx/>
                <a:latin typeface="Calibri"/>
              </a:rPr>
              <a:t>Scenario re-run API: change one input covariate, recompute forecast and confidence bounds</a:t>
            </a:r>
            <a:endParaRPr lang="en-US" sz="950" b="0" u="none" strike="noStrike">
              <a:solidFill>
                <a:srgbClr val="ffffff"/>
              </a:solidFill>
              <a:effectLst/>
              <a:uFillTx/>
              <a:latin typeface="Arial"/>
            </a:endParaRPr>
          </a:p>
          <a:p>
            <a:pPr marL="343080" indent="-343080" defTabSz="914400">
              <a:lnSpc>
                <a:spcPct val="100000"/>
              </a:lnSpc>
              <a:spcAft>
                <a:spcPts val="300"/>
              </a:spcAft>
              <a:buClr>
                <a:srgbClr val="e6edf3"/>
              </a:buClr>
              <a:buFont typeface="Symbol" charset="2"/>
              <a:buChar char=""/>
            </a:pPr>
            <a:r>
              <a:rPr lang="en-US" sz="950" b="0" u="none" strike="noStrike">
                <a:solidFill>
                  <a:srgbClr val="e6edf3"/>
                </a:solidFill>
                <a:effectLst/>
                <a:uFillTx/>
                <a:latin typeface="Calibri"/>
              </a:rPr>
              <a:t>Bayesian linear model (variational inference) for full posterior over scenario outcomes — CFO/CPO-ready uncertainty</a:t>
            </a:r>
            <a:endParaRPr lang="en-US" sz="950" b="0" u="none" strike="noStrike">
              <a:solidFill>
                <a:srgbClr val="ffffff"/>
              </a:solidFill>
              <a:effectLst/>
              <a:uFillTx/>
              <a:latin typeface="Arial"/>
            </a:endParaRPr>
          </a:p>
          <a:p>
            <a:pPr marL="343080" indent="-343080" defTabSz="914400">
              <a:lnSpc>
                <a:spcPct val="100000"/>
              </a:lnSpc>
              <a:spcAft>
                <a:spcPts val="300"/>
              </a:spcAft>
              <a:buClr>
                <a:srgbClr val="e6edf3"/>
              </a:buClr>
              <a:buFont typeface="Symbol" charset="2"/>
              <a:buChar char=""/>
            </a:pPr>
            <a:r>
              <a:rPr lang="en-US" sz="950" b="0" u="none" strike="noStrike">
                <a:solidFill>
                  <a:srgbClr val="e6edf3"/>
                </a:solidFill>
                <a:effectLst/>
                <a:uFillTx/>
                <a:latin typeface="Calibri"/>
              </a:rPr>
              <a:t>Explainability layer: which drivers moved, by how much, in which direction</a:t>
            </a:r>
            <a:endParaRPr lang="en-US" sz="950" b="0" u="none" strike="noStrike">
              <a:solidFill>
                <a:srgbClr val="ffffff"/>
              </a:solidFill>
              <a:effectLst/>
              <a:uFillTx/>
              <a:latin typeface="Arial"/>
            </a:endParaRPr>
          </a:p>
          <a:p>
            <a:pPr marL="343080" indent="-343080" defTabSz="914400">
              <a:lnSpc>
                <a:spcPct val="100000"/>
              </a:lnSpc>
              <a:spcAft>
                <a:spcPts val="300"/>
              </a:spcAft>
              <a:buClr>
                <a:srgbClr val="e6edf3"/>
              </a:buClr>
              <a:buFont typeface="Symbol" charset="2"/>
              <a:buChar char=""/>
            </a:pPr>
            <a:r>
              <a:rPr lang="en-US" sz="950" b="0" u="none" strike="noStrike">
                <a:solidFill>
                  <a:srgbClr val="e6edf3"/>
                </a:solidFill>
                <a:effectLst/>
                <a:uFillTx/>
                <a:latin typeface="Calibri"/>
              </a:rPr>
              <a:t>Directly enables Cost Model Forecast PRD (CPO top priority) and Buy Window visualisation</a:t>
            </a:r>
            <a:endParaRPr lang="en-US" sz="950" b="0" u="none" strike="noStrike">
              <a:solidFill>
                <a:srgbClr val="ffffff"/>
              </a:solidFill>
              <a:effectLst/>
              <a:uFillTx/>
              <a:latin typeface="Arial"/>
            </a:endParaRPr>
          </a:p>
        </p:txBody>
      </p:sp>
      <p:sp>
        <p:nvSpPr>
          <p:cNvPr id="174" name="Shape 25"/>
          <p:cNvSpPr/>
          <p:nvPr/>
        </p:nvSpPr>
        <p:spPr>
          <a:xfrm>
            <a:off x="365760" y="4681800"/>
            <a:ext cx="1992960" cy="347040"/>
          </a:xfrm>
          <a:prstGeom prst="rect">
            <a:avLst/>
          </a:prstGeom>
          <a:solidFill>
            <a:srgbClr val="161b22"/>
          </a:solidFill>
          <a:ln w="6350">
            <a:solidFill>
              <a:srgbClr val="3fb950"/>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75" name="Text 26"/>
          <p:cNvSpPr/>
          <p:nvPr/>
        </p:nvSpPr>
        <p:spPr>
          <a:xfrm>
            <a:off x="457200" y="469080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8b949e"/>
                </a:solidFill>
                <a:effectLst/>
                <a:uFillTx/>
                <a:latin typeface="Calibri"/>
              </a:rPr>
              <a:t>Horizon</a:t>
            </a:r>
            <a:endParaRPr lang="en-US" sz="800" b="0" u="none" strike="noStrike">
              <a:solidFill>
                <a:srgbClr val="ffffff"/>
              </a:solidFill>
              <a:effectLst/>
              <a:uFillTx/>
              <a:latin typeface="Arial"/>
            </a:endParaRPr>
          </a:p>
        </p:txBody>
      </p:sp>
      <p:sp>
        <p:nvSpPr>
          <p:cNvPr id="176" name="Text 27"/>
          <p:cNvSpPr/>
          <p:nvPr/>
        </p:nvSpPr>
        <p:spPr>
          <a:xfrm>
            <a:off x="457200" y="483732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3fb950"/>
                </a:solidFill>
                <a:effectLst/>
                <a:uFillTx/>
                <a:latin typeface="Calibri"/>
              </a:rPr>
              <a:t>2–4 months</a:t>
            </a:r>
            <a:endParaRPr lang="en-US" sz="900" b="0" u="none" strike="noStrike">
              <a:solidFill>
                <a:srgbClr val="ffffff"/>
              </a:solidFill>
              <a:effectLst/>
              <a:uFillTx/>
              <a:latin typeface="Arial"/>
            </a:endParaRPr>
          </a:p>
        </p:txBody>
      </p:sp>
      <p:sp>
        <p:nvSpPr>
          <p:cNvPr id="177" name="Shape 28"/>
          <p:cNvSpPr/>
          <p:nvPr/>
        </p:nvSpPr>
        <p:spPr>
          <a:xfrm>
            <a:off x="2496240" y="4681800"/>
            <a:ext cx="1992960" cy="347040"/>
          </a:xfrm>
          <a:prstGeom prst="rect">
            <a:avLst/>
          </a:prstGeom>
          <a:solidFill>
            <a:srgbClr val="161b22"/>
          </a:solidFill>
          <a:ln w="6350">
            <a:solidFill>
              <a:srgbClr val="3fb950"/>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78" name="Text 29"/>
          <p:cNvSpPr/>
          <p:nvPr/>
        </p:nvSpPr>
        <p:spPr>
          <a:xfrm>
            <a:off x="2587680" y="469080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8b949e"/>
                </a:solidFill>
                <a:effectLst/>
                <a:uFillTx/>
                <a:latin typeface="Calibri"/>
              </a:rPr>
              <a:t>Team cost</a:t>
            </a:r>
            <a:endParaRPr lang="en-US" sz="800" b="0" u="none" strike="noStrike">
              <a:solidFill>
                <a:srgbClr val="ffffff"/>
              </a:solidFill>
              <a:effectLst/>
              <a:uFillTx/>
              <a:latin typeface="Arial"/>
            </a:endParaRPr>
          </a:p>
        </p:txBody>
      </p:sp>
      <p:sp>
        <p:nvSpPr>
          <p:cNvPr id="179" name="Text 30"/>
          <p:cNvSpPr/>
          <p:nvPr/>
        </p:nvSpPr>
        <p:spPr>
          <a:xfrm>
            <a:off x="2587680" y="483732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3fb950"/>
                </a:solidFill>
                <a:effectLst/>
                <a:uFillTx/>
                <a:latin typeface="Calibri"/>
              </a:rPr>
              <a:t>Low — mostly wiring</a:t>
            </a:r>
            <a:endParaRPr lang="en-US" sz="900" b="0" u="none" strike="noStrike">
              <a:solidFill>
                <a:srgbClr val="ffffff"/>
              </a:solidFill>
              <a:effectLst/>
              <a:uFillTx/>
              <a:latin typeface="Arial"/>
            </a:endParaRPr>
          </a:p>
        </p:txBody>
      </p:sp>
      <p:sp>
        <p:nvSpPr>
          <p:cNvPr id="180" name="Shape 31"/>
          <p:cNvSpPr/>
          <p:nvPr/>
        </p:nvSpPr>
        <p:spPr>
          <a:xfrm>
            <a:off x="4626720" y="4681800"/>
            <a:ext cx="1992960" cy="347040"/>
          </a:xfrm>
          <a:prstGeom prst="rect">
            <a:avLst/>
          </a:prstGeom>
          <a:solidFill>
            <a:srgbClr val="161b22"/>
          </a:solidFill>
          <a:ln w="6350">
            <a:solidFill>
              <a:srgbClr val="e8a838"/>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81" name="Text 32"/>
          <p:cNvSpPr/>
          <p:nvPr/>
        </p:nvSpPr>
        <p:spPr>
          <a:xfrm>
            <a:off x="4718160" y="469080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8b949e"/>
                </a:solidFill>
                <a:effectLst/>
                <a:uFillTx/>
                <a:latin typeface="Calibri"/>
              </a:rPr>
              <a:t>Primary value</a:t>
            </a:r>
            <a:endParaRPr lang="en-US" sz="800" b="0" u="none" strike="noStrike">
              <a:solidFill>
                <a:srgbClr val="ffffff"/>
              </a:solidFill>
              <a:effectLst/>
              <a:uFillTx/>
              <a:latin typeface="Arial"/>
            </a:endParaRPr>
          </a:p>
        </p:txBody>
      </p:sp>
      <p:sp>
        <p:nvSpPr>
          <p:cNvPr id="182" name="Text 33"/>
          <p:cNvSpPr/>
          <p:nvPr/>
        </p:nvSpPr>
        <p:spPr>
          <a:xfrm>
            <a:off x="4718160" y="483732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e8a838"/>
                </a:solidFill>
                <a:effectLst/>
                <a:uFillTx/>
                <a:latin typeface="Calibri"/>
              </a:rPr>
              <a:t>Revenue + retention</a:t>
            </a:r>
            <a:endParaRPr lang="en-US" sz="900" b="0" u="none" strike="noStrike">
              <a:solidFill>
                <a:srgbClr val="ffffff"/>
              </a:solidFill>
              <a:effectLst/>
              <a:uFillTx/>
              <a:latin typeface="Arial"/>
            </a:endParaRPr>
          </a:p>
        </p:txBody>
      </p:sp>
      <p:sp>
        <p:nvSpPr>
          <p:cNvPr id="183" name="Shape 34"/>
          <p:cNvSpPr/>
          <p:nvPr/>
        </p:nvSpPr>
        <p:spPr>
          <a:xfrm>
            <a:off x="6757560" y="4681800"/>
            <a:ext cx="1992960" cy="347040"/>
          </a:xfrm>
          <a:prstGeom prst="rect">
            <a:avLst/>
          </a:prstGeom>
          <a:solidFill>
            <a:srgbClr val="161b22"/>
          </a:solidFill>
          <a:ln w="6350">
            <a:solidFill>
              <a:srgbClr val="e8a838"/>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84" name="Text 35"/>
          <p:cNvSpPr/>
          <p:nvPr/>
        </p:nvSpPr>
        <p:spPr>
          <a:xfrm>
            <a:off x="6849000" y="469080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8b949e"/>
                </a:solidFill>
                <a:effectLst/>
                <a:uFillTx/>
                <a:latin typeface="Calibri"/>
              </a:rPr>
              <a:t>Key risk</a:t>
            </a:r>
            <a:endParaRPr lang="en-US" sz="800" b="0" u="none" strike="noStrike">
              <a:solidFill>
                <a:srgbClr val="ffffff"/>
              </a:solidFill>
              <a:effectLst/>
              <a:uFillTx/>
              <a:latin typeface="Arial"/>
            </a:endParaRPr>
          </a:p>
        </p:txBody>
      </p:sp>
      <p:sp>
        <p:nvSpPr>
          <p:cNvPr id="185" name="Text 36"/>
          <p:cNvSpPr/>
          <p:nvPr/>
        </p:nvSpPr>
        <p:spPr>
          <a:xfrm>
            <a:off x="6849000" y="483732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e8a838"/>
                </a:solidFill>
                <a:effectLst/>
                <a:uFillTx/>
                <a:latin typeface="Calibri"/>
              </a:rPr>
              <a:t>Linear models ceiling on nonlinear dynamics and complex relationships</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186" name="Text 0"/>
          <p:cNvSpPr/>
          <p:nvPr/>
        </p:nvSpPr>
        <p:spPr>
          <a:xfrm>
            <a:off x="365760" y="274320"/>
            <a:ext cx="84121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rPr>
              <a:t>At a Glance</a:t>
            </a:r>
            <a:endParaRPr lang="en-US" sz="2800" b="0" u="none" strike="noStrike">
              <a:solidFill>
                <a:srgbClr val="ffffff"/>
              </a:solidFill>
              <a:effectLst/>
              <a:uFillTx/>
              <a:latin typeface="Arial"/>
            </a:endParaRPr>
          </a:p>
        </p:txBody>
      </p:sp>
      <p:sp>
        <p:nvSpPr>
          <p:cNvPr id="187" name="Text 1"/>
          <p:cNvSpPr/>
          <p:nvPr/>
        </p:nvSpPr>
        <p:spPr>
          <a:xfrm>
            <a:off x="365760" y="731520"/>
            <a:ext cx="84121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0" u="none" strike="noStrike">
                <a:solidFill>
                  <a:srgbClr val="8b949e"/>
                </a:solidFill>
                <a:effectLst/>
                <a:uFillTx/>
                <a:latin typeface="Calibri"/>
              </a:rPr>
              <a:t>Evaluation across six dimensions</a:t>
            </a:r>
            <a:endParaRPr lang="en-US" sz="1200" b="0" u="none" strike="noStrike">
              <a:solidFill>
                <a:srgbClr val="ffffff"/>
              </a:solidFill>
              <a:effectLst/>
              <a:uFillTx/>
              <a:latin typeface="Arial"/>
            </a:endParaRPr>
          </a:p>
        </p:txBody>
      </p:sp>
      <p:sp>
        <p:nvSpPr>
          <p:cNvPr id="188" name="Shape 2"/>
          <p:cNvSpPr/>
          <p:nvPr/>
        </p:nvSpPr>
        <p:spPr>
          <a:xfrm>
            <a:off x="365760" y="1078920"/>
            <a:ext cx="2377080" cy="310680"/>
          </a:xfrm>
          <a:prstGeom prst="rect">
            <a:avLst/>
          </a:prstGeom>
          <a:solidFill>
            <a:srgbClr val="161b22"/>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89" name="Text 3"/>
          <p:cNvSpPr/>
          <p:nvPr/>
        </p:nvSpPr>
        <p:spPr>
          <a:xfrm>
            <a:off x="457200" y="1078920"/>
            <a:ext cx="228564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1" u="none" strike="noStrike">
                <a:solidFill>
                  <a:srgbClr val="8b949e"/>
                </a:solidFill>
                <a:effectLst/>
                <a:uFillTx/>
                <a:latin typeface="Calibri"/>
              </a:rPr>
              <a:t>Dimension</a:t>
            </a:r>
            <a:endParaRPr lang="en-US" sz="950" b="0" u="none" strike="noStrike">
              <a:solidFill>
                <a:srgbClr val="ffffff"/>
              </a:solidFill>
              <a:effectLst/>
              <a:uFillTx/>
              <a:latin typeface="Arial"/>
            </a:endParaRPr>
          </a:p>
        </p:txBody>
      </p:sp>
      <p:sp>
        <p:nvSpPr>
          <p:cNvPr id="190" name="Shape 4"/>
          <p:cNvSpPr/>
          <p:nvPr/>
        </p:nvSpPr>
        <p:spPr>
          <a:xfrm>
            <a:off x="2834640" y="1078920"/>
            <a:ext cx="2011320" cy="310680"/>
          </a:xfrm>
          <a:prstGeom prst="rect">
            <a:avLst/>
          </a:prstGeom>
          <a:solidFill>
            <a:srgbClr val="161b22"/>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91" name="Text 5"/>
          <p:cNvSpPr/>
          <p:nvPr/>
        </p:nvSpPr>
        <p:spPr>
          <a:xfrm>
            <a:off x="2926080" y="1078920"/>
            <a:ext cx="191988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1" u="none" strike="noStrike">
                <a:solidFill>
                  <a:srgbClr val="028090"/>
                </a:solidFill>
                <a:effectLst/>
                <a:uFillTx/>
                <a:latin typeface="Calibri"/>
              </a:rPr>
              <a:t>P1  Deep cluster models</a:t>
            </a:r>
            <a:endParaRPr lang="en-US" sz="950" b="0" u="none" strike="noStrike">
              <a:solidFill>
                <a:srgbClr val="ffffff"/>
              </a:solidFill>
              <a:effectLst/>
              <a:uFillTx/>
              <a:latin typeface="Arial"/>
            </a:endParaRPr>
          </a:p>
        </p:txBody>
      </p:sp>
      <p:sp>
        <p:nvSpPr>
          <p:cNvPr id="192" name="Shape 6"/>
          <p:cNvSpPr/>
          <p:nvPr/>
        </p:nvSpPr>
        <p:spPr>
          <a:xfrm>
            <a:off x="4937760" y="1078920"/>
            <a:ext cx="2011320" cy="310680"/>
          </a:xfrm>
          <a:prstGeom prst="rect">
            <a:avLst/>
          </a:prstGeom>
          <a:solidFill>
            <a:srgbClr val="161b22"/>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93" name="Text 7"/>
          <p:cNvSpPr/>
          <p:nvPr/>
        </p:nvSpPr>
        <p:spPr>
          <a:xfrm>
            <a:off x="5029200" y="1078920"/>
            <a:ext cx="191988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1" u="none" strike="noStrike">
                <a:solidFill>
                  <a:srgbClr val="8b5cf6"/>
                </a:solidFill>
                <a:effectLst/>
                <a:uFillTx/>
                <a:latin typeface="Calibri"/>
              </a:rPr>
              <a:t>P2  Causal embedding</a:t>
            </a:r>
            <a:endParaRPr lang="en-US" sz="950" b="0" u="none" strike="noStrike">
              <a:solidFill>
                <a:srgbClr val="ffffff"/>
              </a:solidFill>
              <a:effectLst/>
              <a:uFillTx/>
              <a:latin typeface="Arial"/>
            </a:endParaRPr>
          </a:p>
        </p:txBody>
      </p:sp>
      <p:sp>
        <p:nvSpPr>
          <p:cNvPr id="194" name="Shape 8"/>
          <p:cNvSpPr/>
          <p:nvPr/>
        </p:nvSpPr>
        <p:spPr>
          <a:xfrm>
            <a:off x="7040880" y="1078920"/>
            <a:ext cx="2011320" cy="310680"/>
          </a:xfrm>
          <a:prstGeom prst="rect">
            <a:avLst/>
          </a:prstGeom>
          <a:solidFill>
            <a:srgbClr val="161b22"/>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95" name="Text 9"/>
          <p:cNvSpPr/>
          <p:nvPr/>
        </p:nvSpPr>
        <p:spPr>
          <a:xfrm>
            <a:off x="7132320" y="1078920"/>
            <a:ext cx="191988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1" u="none" strike="noStrike">
                <a:solidFill>
                  <a:srgbClr val="e8a838"/>
                </a:solidFill>
                <a:effectLst/>
                <a:uFillTx/>
                <a:latin typeface="Calibri"/>
              </a:rPr>
              <a:t>P3  Scenario engine</a:t>
            </a:r>
            <a:endParaRPr lang="en-US" sz="950" b="0" u="none" strike="noStrike">
              <a:solidFill>
                <a:srgbClr val="ffffff"/>
              </a:solidFill>
              <a:effectLst/>
              <a:uFillTx/>
              <a:latin typeface="Arial"/>
            </a:endParaRPr>
          </a:p>
        </p:txBody>
      </p:sp>
      <p:sp>
        <p:nvSpPr>
          <p:cNvPr id="196" name="Shape 10"/>
          <p:cNvSpPr/>
          <p:nvPr/>
        </p:nvSpPr>
        <p:spPr>
          <a:xfrm>
            <a:off x="365760" y="1426320"/>
            <a:ext cx="2377080" cy="475200"/>
          </a:xfrm>
          <a:prstGeom prst="rect">
            <a:avLst/>
          </a:prstGeom>
          <a:solidFill>
            <a:srgbClr val="13191f"/>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97" name="Shape 11"/>
          <p:cNvSpPr/>
          <p:nvPr/>
        </p:nvSpPr>
        <p:spPr>
          <a:xfrm>
            <a:off x="2834640" y="1426320"/>
            <a:ext cx="2011320" cy="475200"/>
          </a:xfrm>
          <a:prstGeom prst="rect">
            <a:avLst/>
          </a:prstGeom>
          <a:solidFill>
            <a:srgbClr val="13191f"/>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98" name="Shape 12"/>
          <p:cNvSpPr/>
          <p:nvPr/>
        </p:nvSpPr>
        <p:spPr>
          <a:xfrm>
            <a:off x="4937760" y="1426320"/>
            <a:ext cx="2011320" cy="475200"/>
          </a:xfrm>
          <a:prstGeom prst="rect">
            <a:avLst/>
          </a:prstGeom>
          <a:solidFill>
            <a:srgbClr val="13191f"/>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99" name="Shape 13"/>
          <p:cNvSpPr/>
          <p:nvPr/>
        </p:nvSpPr>
        <p:spPr>
          <a:xfrm>
            <a:off x="7040880" y="1426320"/>
            <a:ext cx="2011320" cy="475200"/>
          </a:xfrm>
          <a:prstGeom prst="rect">
            <a:avLst/>
          </a:prstGeom>
          <a:solidFill>
            <a:srgbClr val="13191f"/>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00" name="Text 14"/>
          <p:cNvSpPr/>
          <p:nvPr/>
        </p:nvSpPr>
        <p:spPr>
          <a:xfrm>
            <a:off x="457200" y="1426320"/>
            <a:ext cx="228564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e6edf3"/>
                </a:solidFill>
                <a:effectLst/>
                <a:uFillTx/>
                <a:latin typeface="Calibri"/>
              </a:rPr>
              <a:t>Technical moat</a:t>
            </a:r>
            <a:endParaRPr lang="en-US" sz="1000" b="0" u="none" strike="noStrike">
              <a:solidFill>
                <a:srgbClr val="ffffff"/>
              </a:solidFill>
              <a:effectLst/>
              <a:uFillTx/>
              <a:latin typeface="Arial"/>
            </a:endParaRPr>
          </a:p>
        </p:txBody>
      </p:sp>
      <p:sp>
        <p:nvSpPr>
          <p:cNvPr id="201" name="Text 15"/>
          <p:cNvSpPr/>
          <p:nvPr/>
        </p:nvSpPr>
        <p:spPr>
          <a:xfrm>
            <a:off x="2944440" y="142632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3fb950"/>
                </a:solidFill>
                <a:effectLst/>
                <a:uFillTx/>
                <a:latin typeface="Calibri"/>
              </a:rPr>
              <a:t>Very high</a:t>
            </a:r>
            <a:endParaRPr lang="en-US" sz="1000" b="0" u="none" strike="noStrike">
              <a:solidFill>
                <a:srgbClr val="ffffff"/>
              </a:solidFill>
              <a:effectLst/>
              <a:uFillTx/>
              <a:latin typeface="Arial"/>
            </a:endParaRPr>
          </a:p>
        </p:txBody>
      </p:sp>
      <p:sp>
        <p:nvSpPr>
          <p:cNvPr id="202" name="Text 16"/>
          <p:cNvSpPr/>
          <p:nvPr/>
        </p:nvSpPr>
        <p:spPr>
          <a:xfrm>
            <a:off x="5047560" y="142632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3fb950"/>
                </a:solidFill>
                <a:effectLst/>
                <a:uFillTx/>
                <a:latin typeface="Calibri"/>
              </a:rPr>
              <a:t>Very high</a:t>
            </a:r>
            <a:endParaRPr lang="en-US" sz="1000" b="0" u="none" strike="noStrike">
              <a:solidFill>
                <a:srgbClr val="ffffff"/>
              </a:solidFill>
              <a:effectLst/>
              <a:uFillTx/>
              <a:latin typeface="Arial"/>
            </a:endParaRPr>
          </a:p>
        </p:txBody>
      </p:sp>
      <p:sp>
        <p:nvSpPr>
          <p:cNvPr id="203" name="Text 17"/>
          <p:cNvSpPr/>
          <p:nvPr/>
        </p:nvSpPr>
        <p:spPr>
          <a:xfrm>
            <a:off x="7150680" y="142632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8a838"/>
                </a:solidFill>
                <a:effectLst/>
                <a:uFillTx/>
                <a:latin typeface="Calibri"/>
              </a:rPr>
              <a:t>Medium</a:t>
            </a:r>
            <a:endParaRPr lang="en-US" sz="1000" b="0" u="none" strike="noStrike">
              <a:solidFill>
                <a:srgbClr val="ffffff"/>
              </a:solidFill>
              <a:effectLst/>
              <a:uFillTx/>
              <a:latin typeface="Arial"/>
            </a:endParaRPr>
          </a:p>
        </p:txBody>
      </p:sp>
      <p:sp>
        <p:nvSpPr>
          <p:cNvPr id="204" name="Shape 18"/>
          <p:cNvSpPr/>
          <p:nvPr/>
        </p:nvSpPr>
        <p:spPr>
          <a:xfrm>
            <a:off x="365760" y="1938600"/>
            <a:ext cx="2377080" cy="475200"/>
          </a:xfrm>
          <a:prstGeom prst="rect">
            <a:avLst/>
          </a:prstGeom>
          <a:solidFill>
            <a:srgbClr val="161b22"/>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05" name="Shape 19"/>
          <p:cNvSpPr/>
          <p:nvPr/>
        </p:nvSpPr>
        <p:spPr>
          <a:xfrm>
            <a:off x="2834640" y="1938600"/>
            <a:ext cx="2011320" cy="475200"/>
          </a:xfrm>
          <a:prstGeom prst="rect">
            <a:avLst/>
          </a:prstGeom>
          <a:solidFill>
            <a:srgbClr val="161b22"/>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06" name="Shape 20"/>
          <p:cNvSpPr/>
          <p:nvPr/>
        </p:nvSpPr>
        <p:spPr>
          <a:xfrm>
            <a:off x="4937760" y="1938600"/>
            <a:ext cx="2011320" cy="475200"/>
          </a:xfrm>
          <a:prstGeom prst="rect">
            <a:avLst/>
          </a:prstGeom>
          <a:solidFill>
            <a:srgbClr val="161b22"/>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07" name="Shape 21"/>
          <p:cNvSpPr/>
          <p:nvPr/>
        </p:nvSpPr>
        <p:spPr>
          <a:xfrm>
            <a:off x="7040880" y="1938600"/>
            <a:ext cx="2011320" cy="475200"/>
          </a:xfrm>
          <a:prstGeom prst="rect">
            <a:avLst/>
          </a:prstGeom>
          <a:solidFill>
            <a:srgbClr val="161b22"/>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08" name="Text 22"/>
          <p:cNvSpPr/>
          <p:nvPr/>
        </p:nvSpPr>
        <p:spPr>
          <a:xfrm>
            <a:off x="457200" y="1938600"/>
            <a:ext cx="228564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e6edf3"/>
                </a:solidFill>
                <a:effectLst/>
                <a:uFillTx/>
                <a:latin typeface="Calibri"/>
              </a:rPr>
              <a:t>Time to value</a:t>
            </a:r>
            <a:endParaRPr lang="en-US" sz="1000" b="0" u="none" strike="noStrike">
              <a:solidFill>
                <a:srgbClr val="ffffff"/>
              </a:solidFill>
              <a:effectLst/>
              <a:uFillTx/>
              <a:latin typeface="Arial"/>
            </a:endParaRPr>
          </a:p>
        </p:txBody>
      </p:sp>
      <p:sp>
        <p:nvSpPr>
          <p:cNvPr id="209" name="Text 23"/>
          <p:cNvSpPr/>
          <p:nvPr/>
        </p:nvSpPr>
        <p:spPr>
          <a:xfrm>
            <a:off x="2944440" y="193860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8a838"/>
                </a:solidFill>
                <a:effectLst/>
                <a:uFillTx/>
                <a:latin typeface="Calibri"/>
              </a:rPr>
              <a:t>6–10 months</a:t>
            </a:r>
            <a:endParaRPr lang="en-US" sz="1000" b="0" u="none" strike="noStrike">
              <a:solidFill>
                <a:srgbClr val="ffffff"/>
              </a:solidFill>
              <a:effectLst/>
              <a:uFillTx/>
              <a:latin typeface="Arial"/>
            </a:endParaRPr>
          </a:p>
        </p:txBody>
      </p:sp>
      <p:sp>
        <p:nvSpPr>
          <p:cNvPr id="210" name="Text 24"/>
          <p:cNvSpPr/>
          <p:nvPr/>
        </p:nvSpPr>
        <p:spPr>
          <a:xfrm>
            <a:off x="5047560" y="193860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8a838"/>
                </a:solidFill>
                <a:effectLst/>
                <a:uFillTx/>
                <a:latin typeface="Calibri"/>
              </a:rPr>
              <a:t>6–9 months</a:t>
            </a:r>
            <a:endParaRPr lang="en-US" sz="1000" b="0" u="none" strike="noStrike">
              <a:solidFill>
                <a:srgbClr val="ffffff"/>
              </a:solidFill>
              <a:effectLst/>
              <a:uFillTx/>
              <a:latin typeface="Arial"/>
            </a:endParaRPr>
          </a:p>
        </p:txBody>
      </p:sp>
      <p:sp>
        <p:nvSpPr>
          <p:cNvPr id="211" name="Text 25"/>
          <p:cNvSpPr/>
          <p:nvPr/>
        </p:nvSpPr>
        <p:spPr>
          <a:xfrm>
            <a:off x="7150680" y="193860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3fb950"/>
                </a:solidFill>
                <a:effectLst/>
                <a:uFillTx/>
                <a:latin typeface="Calibri"/>
              </a:rPr>
              <a:t>2–4 months</a:t>
            </a:r>
            <a:endParaRPr lang="en-US" sz="1000" b="0" u="none" strike="noStrike">
              <a:solidFill>
                <a:srgbClr val="ffffff"/>
              </a:solidFill>
              <a:effectLst/>
              <a:uFillTx/>
              <a:latin typeface="Arial"/>
            </a:endParaRPr>
          </a:p>
        </p:txBody>
      </p:sp>
      <p:sp>
        <p:nvSpPr>
          <p:cNvPr id="212" name="Shape 26"/>
          <p:cNvSpPr/>
          <p:nvPr/>
        </p:nvSpPr>
        <p:spPr>
          <a:xfrm>
            <a:off x="365760" y="2450520"/>
            <a:ext cx="2377080" cy="475200"/>
          </a:xfrm>
          <a:prstGeom prst="rect">
            <a:avLst/>
          </a:prstGeom>
          <a:solidFill>
            <a:srgbClr val="13191f"/>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13" name="Shape 27"/>
          <p:cNvSpPr/>
          <p:nvPr/>
        </p:nvSpPr>
        <p:spPr>
          <a:xfrm>
            <a:off x="2834640" y="2450520"/>
            <a:ext cx="2011320" cy="475200"/>
          </a:xfrm>
          <a:prstGeom prst="rect">
            <a:avLst/>
          </a:prstGeom>
          <a:solidFill>
            <a:srgbClr val="13191f"/>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14" name="Shape 28"/>
          <p:cNvSpPr/>
          <p:nvPr/>
        </p:nvSpPr>
        <p:spPr>
          <a:xfrm>
            <a:off x="4937760" y="2450520"/>
            <a:ext cx="2011320" cy="475200"/>
          </a:xfrm>
          <a:prstGeom prst="rect">
            <a:avLst/>
          </a:prstGeom>
          <a:solidFill>
            <a:srgbClr val="13191f"/>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15" name="Shape 29"/>
          <p:cNvSpPr/>
          <p:nvPr/>
        </p:nvSpPr>
        <p:spPr>
          <a:xfrm>
            <a:off x="7040880" y="2450520"/>
            <a:ext cx="2011320" cy="475200"/>
          </a:xfrm>
          <a:prstGeom prst="rect">
            <a:avLst/>
          </a:prstGeom>
          <a:solidFill>
            <a:srgbClr val="13191f"/>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16" name="Text 30"/>
          <p:cNvSpPr/>
          <p:nvPr/>
        </p:nvSpPr>
        <p:spPr>
          <a:xfrm>
            <a:off x="457200" y="2450520"/>
            <a:ext cx="228564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e6edf3"/>
                </a:solidFill>
                <a:effectLst/>
                <a:uFillTx/>
                <a:latin typeface="Calibri"/>
              </a:rPr>
              <a:t>Execution risk</a:t>
            </a:r>
            <a:endParaRPr lang="en-US" sz="1000" b="0" u="none" strike="noStrike">
              <a:solidFill>
                <a:srgbClr val="ffffff"/>
              </a:solidFill>
              <a:effectLst/>
              <a:uFillTx/>
              <a:latin typeface="Arial"/>
            </a:endParaRPr>
          </a:p>
        </p:txBody>
      </p:sp>
      <p:sp>
        <p:nvSpPr>
          <p:cNvPr id="217" name="Text 31"/>
          <p:cNvSpPr/>
          <p:nvPr/>
        </p:nvSpPr>
        <p:spPr>
          <a:xfrm>
            <a:off x="2944440" y="245052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8a838"/>
                </a:solidFill>
                <a:effectLst/>
                <a:uFillTx/>
                <a:latin typeface="Calibri"/>
              </a:rPr>
              <a:t>Medium*</a:t>
            </a:r>
            <a:endParaRPr lang="en-US" sz="1000" b="0" u="none" strike="noStrike">
              <a:solidFill>
                <a:srgbClr val="ffffff"/>
              </a:solidFill>
              <a:effectLst/>
              <a:uFillTx/>
              <a:latin typeface="Arial"/>
            </a:endParaRPr>
          </a:p>
        </p:txBody>
      </p:sp>
      <p:sp>
        <p:nvSpPr>
          <p:cNvPr id="218" name="Text 32"/>
          <p:cNvSpPr/>
          <p:nvPr/>
        </p:nvSpPr>
        <p:spPr>
          <a:xfrm>
            <a:off x="5047560" y="245052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05c5c"/>
                </a:solidFill>
                <a:effectLst/>
                <a:uFillTx/>
                <a:latin typeface="Calibri"/>
              </a:rPr>
              <a:t>Medium–high</a:t>
            </a:r>
            <a:endParaRPr lang="en-US" sz="1000" b="0" u="none" strike="noStrike">
              <a:solidFill>
                <a:srgbClr val="ffffff"/>
              </a:solidFill>
              <a:effectLst/>
              <a:uFillTx/>
              <a:latin typeface="Arial"/>
            </a:endParaRPr>
          </a:p>
        </p:txBody>
      </p:sp>
      <p:sp>
        <p:nvSpPr>
          <p:cNvPr id="219" name="Text 33"/>
          <p:cNvSpPr/>
          <p:nvPr/>
        </p:nvSpPr>
        <p:spPr>
          <a:xfrm>
            <a:off x="7150680" y="245052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3fb950"/>
                </a:solidFill>
                <a:effectLst/>
                <a:uFillTx/>
                <a:latin typeface="Calibri"/>
              </a:rPr>
              <a:t>Low</a:t>
            </a:r>
            <a:endParaRPr lang="en-US" sz="1000" b="0" u="none" strike="noStrike">
              <a:solidFill>
                <a:srgbClr val="ffffff"/>
              </a:solidFill>
              <a:effectLst/>
              <a:uFillTx/>
              <a:latin typeface="Arial"/>
            </a:endParaRPr>
          </a:p>
        </p:txBody>
      </p:sp>
      <p:sp>
        <p:nvSpPr>
          <p:cNvPr id="220" name="Shape 34"/>
          <p:cNvSpPr/>
          <p:nvPr/>
        </p:nvSpPr>
        <p:spPr>
          <a:xfrm>
            <a:off x="365760" y="2962800"/>
            <a:ext cx="2377080" cy="475200"/>
          </a:xfrm>
          <a:prstGeom prst="rect">
            <a:avLst/>
          </a:prstGeom>
          <a:solidFill>
            <a:srgbClr val="161b22"/>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21" name="Shape 35"/>
          <p:cNvSpPr/>
          <p:nvPr/>
        </p:nvSpPr>
        <p:spPr>
          <a:xfrm>
            <a:off x="2834640" y="2962800"/>
            <a:ext cx="2011320" cy="475200"/>
          </a:xfrm>
          <a:prstGeom prst="rect">
            <a:avLst/>
          </a:prstGeom>
          <a:solidFill>
            <a:srgbClr val="161b22"/>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22" name="Shape 36"/>
          <p:cNvSpPr/>
          <p:nvPr/>
        </p:nvSpPr>
        <p:spPr>
          <a:xfrm>
            <a:off x="4937760" y="2962800"/>
            <a:ext cx="2011320" cy="475200"/>
          </a:xfrm>
          <a:prstGeom prst="rect">
            <a:avLst/>
          </a:prstGeom>
          <a:solidFill>
            <a:srgbClr val="161b22"/>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23" name="Shape 37"/>
          <p:cNvSpPr/>
          <p:nvPr/>
        </p:nvSpPr>
        <p:spPr>
          <a:xfrm>
            <a:off x="7040880" y="2962800"/>
            <a:ext cx="2011320" cy="475200"/>
          </a:xfrm>
          <a:prstGeom prst="rect">
            <a:avLst/>
          </a:prstGeom>
          <a:solidFill>
            <a:srgbClr val="161b22"/>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24" name="Text 38"/>
          <p:cNvSpPr/>
          <p:nvPr/>
        </p:nvSpPr>
        <p:spPr>
          <a:xfrm>
            <a:off x="457200" y="2962800"/>
            <a:ext cx="228564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e6edf3"/>
                </a:solidFill>
                <a:effectLst/>
                <a:uFillTx/>
                <a:latin typeface="Calibri"/>
              </a:rPr>
              <a:t>Team cost</a:t>
            </a:r>
            <a:endParaRPr lang="en-US" sz="1000" b="0" u="none" strike="noStrike">
              <a:solidFill>
                <a:srgbClr val="ffffff"/>
              </a:solidFill>
              <a:effectLst/>
              <a:uFillTx/>
              <a:latin typeface="Arial"/>
            </a:endParaRPr>
          </a:p>
        </p:txBody>
      </p:sp>
      <p:sp>
        <p:nvSpPr>
          <p:cNvPr id="225" name="Text 39"/>
          <p:cNvSpPr/>
          <p:nvPr/>
        </p:nvSpPr>
        <p:spPr>
          <a:xfrm>
            <a:off x="2944440" y="296280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05c5c"/>
                </a:solidFill>
                <a:effectLst/>
                <a:uFillTx/>
                <a:latin typeface="Calibri"/>
              </a:rPr>
              <a:t>High</a:t>
            </a:r>
            <a:endParaRPr lang="en-US" sz="1000" b="0" u="none" strike="noStrike">
              <a:solidFill>
                <a:srgbClr val="ffffff"/>
              </a:solidFill>
              <a:effectLst/>
              <a:uFillTx/>
              <a:latin typeface="Arial"/>
            </a:endParaRPr>
          </a:p>
        </p:txBody>
      </p:sp>
      <p:sp>
        <p:nvSpPr>
          <p:cNvPr id="226" name="Text 40"/>
          <p:cNvSpPr/>
          <p:nvPr/>
        </p:nvSpPr>
        <p:spPr>
          <a:xfrm>
            <a:off x="5047560" y="296280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8a838"/>
                </a:solidFill>
                <a:effectLst/>
                <a:uFillTx/>
                <a:latin typeface="Calibri"/>
              </a:rPr>
              <a:t>Medium</a:t>
            </a:r>
            <a:endParaRPr lang="en-US" sz="1000" b="0" u="none" strike="noStrike">
              <a:solidFill>
                <a:srgbClr val="ffffff"/>
              </a:solidFill>
              <a:effectLst/>
              <a:uFillTx/>
              <a:latin typeface="Arial"/>
            </a:endParaRPr>
          </a:p>
        </p:txBody>
      </p:sp>
      <p:sp>
        <p:nvSpPr>
          <p:cNvPr id="227" name="Text 41"/>
          <p:cNvSpPr/>
          <p:nvPr/>
        </p:nvSpPr>
        <p:spPr>
          <a:xfrm>
            <a:off x="7150680" y="296280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3fb950"/>
                </a:solidFill>
                <a:effectLst/>
                <a:uFillTx/>
                <a:latin typeface="Calibri"/>
              </a:rPr>
              <a:t>Low</a:t>
            </a:r>
            <a:endParaRPr lang="en-US" sz="1000" b="0" u="none" strike="noStrike">
              <a:solidFill>
                <a:srgbClr val="ffffff"/>
              </a:solidFill>
              <a:effectLst/>
              <a:uFillTx/>
              <a:latin typeface="Arial"/>
            </a:endParaRPr>
          </a:p>
        </p:txBody>
      </p:sp>
      <p:sp>
        <p:nvSpPr>
          <p:cNvPr id="228" name="Shape 42"/>
          <p:cNvSpPr/>
          <p:nvPr/>
        </p:nvSpPr>
        <p:spPr>
          <a:xfrm>
            <a:off x="365760" y="3474720"/>
            <a:ext cx="2377080" cy="475200"/>
          </a:xfrm>
          <a:prstGeom prst="rect">
            <a:avLst/>
          </a:prstGeom>
          <a:solidFill>
            <a:srgbClr val="13191f"/>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29" name="Shape 43"/>
          <p:cNvSpPr/>
          <p:nvPr/>
        </p:nvSpPr>
        <p:spPr>
          <a:xfrm>
            <a:off x="2834640" y="3474720"/>
            <a:ext cx="2011320" cy="475200"/>
          </a:xfrm>
          <a:prstGeom prst="rect">
            <a:avLst/>
          </a:prstGeom>
          <a:solidFill>
            <a:srgbClr val="13191f"/>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30" name="Shape 44"/>
          <p:cNvSpPr/>
          <p:nvPr/>
        </p:nvSpPr>
        <p:spPr>
          <a:xfrm>
            <a:off x="4937760" y="3474720"/>
            <a:ext cx="2011320" cy="475200"/>
          </a:xfrm>
          <a:prstGeom prst="rect">
            <a:avLst/>
          </a:prstGeom>
          <a:solidFill>
            <a:srgbClr val="13191f"/>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31" name="Shape 45"/>
          <p:cNvSpPr/>
          <p:nvPr/>
        </p:nvSpPr>
        <p:spPr>
          <a:xfrm>
            <a:off x="7040880" y="3474720"/>
            <a:ext cx="2011320" cy="475200"/>
          </a:xfrm>
          <a:prstGeom prst="rect">
            <a:avLst/>
          </a:prstGeom>
          <a:solidFill>
            <a:srgbClr val="13191f"/>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32" name="Text 46"/>
          <p:cNvSpPr/>
          <p:nvPr/>
        </p:nvSpPr>
        <p:spPr>
          <a:xfrm>
            <a:off x="457200" y="3474720"/>
            <a:ext cx="228564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e6edf3"/>
                </a:solidFill>
                <a:effectLst/>
                <a:uFillTx/>
                <a:latin typeface="Calibri"/>
              </a:rPr>
              <a:t>Scalability unlock</a:t>
            </a:r>
            <a:endParaRPr lang="en-US" sz="1000" b="0" u="none" strike="noStrike">
              <a:solidFill>
                <a:srgbClr val="ffffff"/>
              </a:solidFill>
              <a:effectLst/>
              <a:uFillTx/>
              <a:latin typeface="Arial"/>
            </a:endParaRPr>
          </a:p>
        </p:txBody>
      </p:sp>
      <p:sp>
        <p:nvSpPr>
          <p:cNvPr id="233" name="Text 47"/>
          <p:cNvSpPr/>
          <p:nvPr/>
        </p:nvSpPr>
        <p:spPr>
          <a:xfrm>
            <a:off x="2944440" y="347472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3fb950"/>
                </a:solidFill>
                <a:effectLst/>
                <a:uFillTx/>
                <a:latin typeface="Calibri"/>
              </a:rPr>
              <a:t>Core unlock</a:t>
            </a:r>
            <a:endParaRPr lang="en-US" sz="1000" b="0" u="none" strike="noStrike">
              <a:solidFill>
                <a:srgbClr val="ffffff"/>
              </a:solidFill>
              <a:effectLst/>
              <a:uFillTx/>
              <a:latin typeface="Arial"/>
            </a:endParaRPr>
          </a:p>
        </p:txBody>
      </p:sp>
      <p:sp>
        <p:nvSpPr>
          <p:cNvPr id="234" name="Text 48"/>
          <p:cNvSpPr/>
          <p:nvPr/>
        </p:nvSpPr>
        <p:spPr>
          <a:xfrm>
            <a:off x="5047560" y="347472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3fb950"/>
                </a:solidFill>
                <a:effectLst/>
                <a:uFillTx/>
                <a:latin typeface="Calibri"/>
              </a:rPr>
              <a:t>Enabler</a:t>
            </a:r>
            <a:endParaRPr lang="en-US" sz="1000" b="0" u="none" strike="noStrike">
              <a:solidFill>
                <a:srgbClr val="ffffff"/>
              </a:solidFill>
              <a:effectLst/>
              <a:uFillTx/>
              <a:latin typeface="Arial"/>
            </a:endParaRPr>
          </a:p>
        </p:txBody>
      </p:sp>
      <p:sp>
        <p:nvSpPr>
          <p:cNvPr id="235" name="Text 49"/>
          <p:cNvSpPr/>
          <p:nvPr/>
        </p:nvSpPr>
        <p:spPr>
          <a:xfrm>
            <a:off x="7150680" y="347472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8a838"/>
                </a:solidFill>
                <a:effectLst/>
                <a:uFillTx/>
                <a:latin typeface="Calibri"/>
              </a:rPr>
              <a:t>Indirect</a:t>
            </a:r>
            <a:endParaRPr lang="en-US" sz="1000" b="0" u="none" strike="noStrike">
              <a:solidFill>
                <a:srgbClr val="ffffff"/>
              </a:solidFill>
              <a:effectLst/>
              <a:uFillTx/>
              <a:latin typeface="Arial"/>
            </a:endParaRPr>
          </a:p>
        </p:txBody>
      </p:sp>
      <p:sp>
        <p:nvSpPr>
          <p:cNvPr id="236" name="Shape 50"/>
          <p:cNvSpPr/>
          <p:nvPr/>
        </p:nvSpPr>
        <p:spPr>
          <a:xfrm>
            <a:off x="365760" y="3986640"/>
            <a:ext cx="2377080" cy="475200"/>
          </a:xfrm>
          <a:prstGeom prst="rect">
            <a:avLst/>
          </a:prstGeom>
          <a:solidFill>
            <a:srgbClr val="161b22"/>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37" name="Shape 51"/>
          <p:cNvSpPr/>
          <p:nvPr/>
        </p:nvSpPr>
        <p:spPr>
          <a:xfrm>
            <a:off x="2834640" y="3986640"/>
            <a:ext cx="2011320" cy="475200"/>
          </a:xfrm>
          <a:prstGeom prst="rect">
            <a:avLst/>
          </a:prstGeom>
          <a:solidFill>
            <a:srgbClr val="161b22"/>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38" name="Shape 52"/>
          <p:cNvSpPr/>
          <p:nvPr/>
        </p:nvSpPr>
        <p:spPr>
          <a:xfrm>
            <a:off x="4937760" y="3986640"/>
            <a:ext cx="2011320" cy="475200"/>
          </a:xfrm>
          <a:prstGeom prst="rect">
            <a:avLst/>
          </a:prstGeom>
          <a:solidFill>
            <a:srgbClr val="161b22"/>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39" name="Shape 53"/>
          <p:cNvSpPr/>
          <p:nvPr/>
        </p:nvSpPr>
        <p:spPr>
          <a:xfrm>
            <a:off x="7040880" y="3986640"/>
            <a:ext cx="2011320" cy="475200"/>
          </a:xfrm>
          <a:prstGeom prst="rect">
            <a:avLst/>
          </a:prstGeom>
          <a:solidFill>
            <a:srgbClr val="161b22"/>
          </a:solidFill>
          <a:ln w="635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40" name="Text 54"/>
          <p:cNvSpPr/>
          <p:nvPr/>
        </p:nvSpPr>
        <p:spPr>
          <a:xfrm>
            <a:off x="457200" y="3986640"/>
            <a:ext cx="228564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e6edf3"/>
                </a:solidFill>
                <a:effectLst/>
                <a:uFillTx/>
                <a:latin typeface="Calibri"/>
              </a:rPr>
              <a:t>Benchmark / proof</a:t>
            </a:r>
            <a:endParaRPr lang="en-US" sz="1000" b="0" u="none" strike="noStrike">
              <a:solidFill>
                <a:srgbClr val="ffffff"/>
              </a:solidFill>
              <a:effectLst/>
              <a:uFillTx/>
              <a:latin typeface="Arial"/>
            </a:endParaRPr>
          </a:p>
        </p:txBody>
      </p:sp>
      <p:sp>
        <p:nvSpPr>
          <p:cNvPr id="241" name="Text 55"/>
          <p:cNvSpPr/>
          <p:nvPr/>
        </p:nvSpPr>
        <p:spPr>
          <a:xfrm>
            <a:off x="2944440" y="398664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3fb950"/>
                </a:solidFill>
                <a:effectLst/>
                <a:uFillTx/>
                <a:latin typeface="Calibri"/>
              </a:rPr>
              <a:t>M5, VN2 + 200M TS</a:t>
            </a:r>
            <a:endParaRPr lang="en-US" sz="1000" b="0" u="none" strike="noStrike">
              <a:solidFill>
                <a:srgbClr val="ffffff"/>
              </a:solidFill>
              <a:effectLst/>
              <a:uFillTx/>
              <a:latin typeface="Arial"/>
            </a:endParaRPr>
          </a:p>
        </p:txBody>
      </p:sp>
      <p:sp>
        <p:nvSpPr>
          <p:cNvPr id="242" name="Text 56"/>
          <p:cNvSpPr/>
          <p:nvPr/>
        </p:nvSpPr>
        <p:spPr>
          <a:xfrm>
            <a:off x="5047560" y="398664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8a838"/>
                </a:solidFill>
                <a:effectLst/>
                <a:uFillTx/>
                <a:latin typeface="Calibri"/>
              </a:rPr>
              <a:t>TE retrieval accuracy</a:t>
            </a:r>
            <a:endParaRPr lang="en-US" sz="1000" b="0" u="none" strike="noStrike">
              <a:solidFill>
                <a:srgbClr val="ffffff"/>
              </a:solidFill>
              <a:effectLst/>
              <a:uFillTx/>
              <a:latin typeface="Arial"/>
            </a:endParaRPr>
          </a:p>
        </p:txBody>
      </p:sp>
      <p:sp>
        <p:nvSpPr>
          <p:cNvPr id="243" name="Text 57"/>
          <p:cNvSpPr/>
          <p:nvPr/>
        </p:nvSpPr>
        <p:spPr>
          <a:xfrm>
            <a:off x="7150680" y="3986640"/>
            <a:ext cx="1810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3fb950"/>
                </a:solidFill>
                <a:effectLst/>
                <a:uFillTx/>
                <a:latin typeface="Calibri"/>
              </a:rPr>
              <a:t>Client outcomes</a:t>
            </a:r>
            <a:endParaRPr lang="en-US" sz="1000" b="0" u="none" strike="noStrike">
              <a:solidFill>
                <a:srgbClr val="ffffff"/>
              </a:solidFill>
              <a:effectLst/>
              <a:uFillTx/>
              <a:latin typeface="Arial"/>
            </a:endParaRPr>
          </a:p>
        </p:txBody>
      </p:sp>
      <p:sp>
        <p:nvSpPr>
          <p:cNvPr id="244" name="Text 58"/>
          <p:cNvSpPr/>
          <p:nvPr/>
        </p:nvSpPr>
        <p:spPr>
          <a:xfrm>
            <a:off x="365760" y="4754880"/>
            <a:ext cx="8412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50" b="0" u="none" strike="noStrike">
                <a:solidFill>
                  <a:srgbClr val="8b949e"/>
                </a:solidFill>
                <a:effectLst/>
                <a:uFillTx/>
                <a:latin typeface="Calibri"/>
              </a:rPr>
              <a:t>* P1 risk reduced significantly: sub-clustering by regime handles shape ≠ regime cases; 200M series are the training pool.</a:t>
            </a:r>
            <a:endParaRPr lang="en-US"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245" name="Text 0"/>
          <p:cNvSpPr/>
          <p:nvPr/>
        </p:nvSpPr>
        <p:spPr>
          <a:xfrm>
            <a:off x="365760" y="274320"/>
            <a:ext cx="84121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rPr>
              <a:t>Recommended Sequencing</a:t>
            </a:r>
            <a:endParaRPr lang="en-US" sz="2800" b="0" u="none" strike="noStrike">
              <a:solidFill>
                <a:srgbClr val="ffffff"/>
              </a:solidFill>
              <a:effectLst/>
              <a:uFillTx/>
              <a:latin typeface="Arial"/>
            </a:endParaRPr>
          </a:p>
        </p:txBody>
      </p:sp>
      <p:sp>
        <p:nvSpPr>
          <p:cNvPr id="246" name="Text 1"/>
          <p:cNvSpPr/>
          <p:nvPr/>
        </p:nvSpPr>
        <p:spPr>
          <a:xfrm>
            <a:off x="365760" y="731520"/>
            <a:ext cx="84121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0" u="none" strike="noStrike">
                <a:solidFill>
                  <a:srgbClr val="8b949e"/>
                </a:solidFill>
                <a:effectLst/>
                <a:uFillTx/>
                <a:latin typeface="Calibri"/>
              </a:rPr>
              <a:t>How the three projects reinforce each other</a:t>
            </a:r>
            <a:endParaRPr lang="en-US" sz="1200" b="0" u="none" strike="noStrike">
              <a:solidFill>
                <a:srgbClr val="ffffff"/>
              </a:solidFill>
              <a:effectLst/>
              <a:uFillTx/>
              <a:latin typeface="Arial"/>
            </a:endParaRPr>
          </a:p>
        </p:txBody>
      </p:sp>
      <p:sp>
        <p:nvSpPr>
          <p:cNvPr id="247" name="Shape 2"/>
          <p:cNvSpPr/>
          <p:nvPr/>
        </p:nvSpPr>
        <p:spPr>
          <a:xfrm>
            <a:off x="731520" y="1005840"/>
            <a:ext cx="4320" cy="3382920"/>
          </a:xfrm>
          <a:prstGeom prst="rect">
            <a:avLst/>
          </a:prstGeom>
          <a:solidFill>
            <a:srgbClr val="21262d"/>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48" name="Text 3"/>
          <p:cNvSpPr/>
          <p:nvPr/>
        </p:nvSpPr>
        <p:spPr>
          <a:xfrm>
            <a:off x="548640" y="914400"/>
            <a:ext cx="63972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850" b="0" u="none" strike="noStrike">
                <a:solidFill>
                  <a:srgbClr val="8b949e"/>
                </a:solidFill>
                <a:effectLst/>
                <a:uFillTx/>
                <a:latin typeface="Calibri"/>
              </a:rPr>
              <a:t>Now</a:t>
            </a:r>
            <a:endParaRPr lang="en-US" sz="850" b="0" u="none" strike="noStrike">
              <a:solidFill>
                <a:srgbClr val="ffffff"/>
              </a:solidFill>
              <a:effectLst/>
              <a:uFillTx/>
              <a:latin typeface="Arial"/>
            </a:endParaRPr>
          </a:p>
        </p:txBody>
      </p:sp>
      <p:sp>
        <p:nvSpPr>
          <p:cNvPr id="249" name="Shape 4"/>
          <p:cNvSpPr/>
          <p:nvPr/>
        </p:nvSpPr>
        <p:spPr>
          <a:xfrm>
            <a:off x="2340720" y="1005840"/>
            <a:ext cx="4320" cy="3382920"/>
          </a:xfrm>
          <a:prstGeom prst="rect">
            <a:avLst/>
          </a:prstGeom>
          <a:solidFill>
            <a:srgbClr val="21262d"/>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50" name="Text 5"/>
          <p:cNvSpPr/>
          <p:nvPr/>
        </p:nvSpPr>
        <p:spPr>
          <a:xfrm>
            <a:off x="2157840" y="914400"/>
            <a:ext cx="63972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850" b="0" u="none" strike="noStrike">
                <a:solidFill>
                  <a:srgbClr val="8b949e"/>
                </a:solidFill>
                <a:effectLst/>
                <a:uFillTx/>
                <a:latin typeface="Calibri"/>
              </a:rPr>
              <a:t>M2</a:t>
            </a:r>
            <a:endParaRPr lang="en-US" sz="850" b="0" u="none" strike="noStrike">
              <a:solidFill>
                <a:srgbClr val="ffffff"/>
              </a:solidFill>
              <a:effectLst/>
              <a:uFillTx/>
              <a:latin typeface="Arial"/>
            </a:endParaRPr>
          </a:p>
        </p:txBody>
      </p:sp>
      <p:sp>
        <p:nvSpPr>
          <p:cNvPr id="251" name="Shape 6"/>
          <p:cNvSpPr/>
          <p:nvPr/>
        </p:nvSpPr>
        <p:spPr>
          <a:xfrm>
            <a:off x="3950280" y="1005840"/>
            <a:ext cx="4320" cy="3382920"/>
          </a:xfrm>
          <a:prstGeom prst="rect">
            <a:avLst/>
          </a:prstGeom>
          <a:solidFill>
            <a:srgbClr val="21262d"/>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52" name="Text 7"/>
          <p:cNvSpPr/>
          <p:nvPr/>
        </p:nvSpPr>
        <p:spPr>
          <a:xfrm>
            <a:off x="3767400" y="914400"/>
            <a:ext cx="63972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850" b="0" u="none" strike="noStrike">
                <a:solidFill>
                  <a:srgbClr val="8b949e"/>
                </a:solidFill>
                <a:effectLst/>
                <a:uFillTx/>
                <a:latin typeface="Calibri"/>
              </a:rPr>
              <a:t>M4</a:t>
            </a:r>
            <a:endParaRPr lang="en-US" sz="850" b="0" u="none" strike="noStrike">
              <a:solidFill>
                <a:srgbClr val="ffffff"/>
              </a:solidFill>
              <a:effectLst/>
              <a:uFillTx/>
              <a:latin typeface="Arial"/>
            </a:endParaRPr>
          </a:p>
        </p:txBody>
      </p:sp>
      <p:sp>
        <p:nvSpPr>
          <p:cNvPr id="253" name="Shape 8"/>
          <p:cNvSpPr/>
          <p:nvPr/>
        </p:nvSpPr>
        <p:spPr>
          <a:xfrm>
            <a:off x="5559480" y="1005840"/>
            <a:ext cx="4320" cy="3382920"/>
          </a:xfrm>
          <a:prstGeom prst="rect">
            <a:avLst/>
          </a:prstGeom>
          <a:solidFill>
            <a:srgbClr val="21262d"/>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54" name="Text 9"/>
          <p:cNvSpPr/>
          <p:nvPr/>
        </p:nvSpPr>
        <p:spPr>
          <a:xfrm>
            <a:off x="5376600" y="914400"/>
            <a:ext cx="63972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850" b="0" u="none" strike="noStrike">
                <a:solidFill>
                  <a:srgbClr val="8b949e"/>
                </a:solidFill>
                <a:effectLst/>
                <a:uFillTx/>
                <a:latin typeface="Calibri"/>
              </a:rPr>
              <a:t>M6</a:t>
            </a:r>
            <a:endParaRPr lang="en-US" sz="850" b="0" u="none" strike="noStrike">
              <a:solidFill>
                <a:srgbClr val="ffffff"/>
              </a:solidFill>
              <a:effectLst/>
              <a:uFillTx/>
              <a:latin typeface="Arial"/>
            </a:endParaRPr>
          </a:p>
        </p:txBody>
      </p:sp>
      <p:sp>
        <p:nvSpPr>
          <p:cNvPr id="255" name="Shape 10"/>
          <p:cNvSpPr/>
          <p:nvPr/>
        </p:nvSpPr>
        <p:spPr>
          <a:xfrm>
            <a:off x="7169040" y="1005840"/>
            <a:ext cx="4320" cy="3382920"/>
          </a:xfrm>
          <a:prstGeom prst="rect">
            <a:avLst/>
          </a:prstGeom>
          <a:solidFill>
            <a:srgbClr val="21262d"/>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56" name="Text 11"/>
          <p:cNvSpPr/>
          <p:nvPr/>
        </p:nvSpPr>
        <p:spPr>
          <a:xfrm>
            <a:off x="6986160" y="914400"/>
            <a:ext cx="63972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850" b="0" u="none" strike="noStrike">
                <a:solidFill>
                  <a:srgbClr val="8b949e"/>
                </a:solidFill>
                <a:effectLst/>
                <a:uFillTx/>
                <a:latin typeface="Calibri"/>
              </a:rPr>
              <a:t>M8</a:t>
            </a:r>
            <a:endParaRPr lang="en-US" sz="850" b="0" u="none" strike="noStrike">
              <a:solidFill>
                <a:srgbClr val="ffffff"/>
              </a:solidFill>
              <a:effectLst/>
              <a:uFillTx/>
              <a:latin typeface="Arial"/>
            </a:endParaRPr>
          </a:p>
        </p:txBody>
      </p:sp>
      <p:sp>
        <p:nvSpPr>
          <p:cNvPr id="257" name="Shape 12"/>
          <p:cNvSpPr/>
          <p:nvPr/>
        </p:nvSpPr>
        <p:spPr>
          <a:xfrm>
            <a:off x="8778240" y="1005840"/>
            <a:ext cx="4320" cy="3382920"/>
          </a:xfrm>
          <a:prstGeom prst="rect">
            <a:avLst/>
          </a:prstGeom>
          <a:solidFill>
            <a:srgbClr val="21262d"/>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58" name="Text 13"/>
          <p:cNvSpPr/>
          <p:nvPr/>
        </p:nvSpPr>
        <p:spPr>
          <a:xfrm>
            <a:off x="8595360" y="914400"/>
            <a:ext cx="63972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850" b="0" u="none" strike="noStrike">
                <a:solidFill>
                  <a:srgbClr val="8b949e"/>
                </a:solidFill>
                <a:effectLst/>
                <a:uFillTx/>
                <a:latin typeface="Calibri"/>
              </a:rPr>
              <a:t>M10</a:t>
            </a:r>
            <a:endParaRPr lang="en-US" sz="850" b="0" u="none" strike="noStrike">
              <a:solidFill>
                <a:srgbClr val="ffffff"/>
              </a:solidFill>
              <a:effectLst/>
              <a:uFillTx/>
              <a:latin typeface="Arial"/>
            </a:endParaRPr>
          </a:p>
        </p:txBody>
      </p:sp>
      <p:sp>
        <p:nvSpPr>
          <p:cNvPr id="259" name="Shape 14"/>
          <p:cNvSpPr/>
          <p:nvPr/>
        </p:nvSpPr>
        <p:spPr>
          <a:xfrm>
            <a:off x="731520" y="1143000"/>
            <a:ext cx="2815920" cy="383760"/>
          </a:xfrm>
          <a:prstGeom prst="rect">
            <a:avLst/>
          </a:prstGeom>
          <a:solidFill>
            <a:srgbClr val="e8a838">
              <a:alpha val="25000"/>
            </a:srgbClr>
          </a:solidFill>
          <a:ln w="12700">
            <a:solidFill>
              <a:srgbClr val="e8a838"/>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260" name="Text 15"/>
          <p:cNvSpPr/>
          <p:nvPr/>
        </p:nvSpPr>
        <p:spPr>
          <a:xfrm>
            <a:off x="804600" y="1143000"/>
            <a:ext cx="272448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e8a838"/>
                </a:solidFill>
                <a:effectLst/>
                <a:uFillTx/>
                <a:latin typeface="Calibri"/>
              </a:rPr>
              <a:t>P3  Scenario engine</a:t>
            </a:r>
            <a:endParaRPr lang="en-US" sz="900" b="0" u="none" strike="noStrike">
              <a:solidFill>
                <a:srgbClr val="ffffff"/>
              </a:solidFill>
              <a:effectLst/>
              <a:uFillTx/>
              <a:latin typeface="Arial"/>
            </a:endParaRPr>
          </a:p>
        </p:txBody>
      </p:sp>
      <p:sp>
        <p:nvSpPr>
          <p:cNvPr id="261" name="Shape 16"/>
          <p:cNvSpPr/>
          <p:nvPr/>
        </p:nvSpPr>
        <p:spPr>
          <a:xfrm>
            <a:off x="1536120" y="1920240"/>
            <a:ext cx="5230080" cy="383760"/>
          </a:xfrm>
          <a:prstGeom prst="rect">
            <a:avLst/>
          </a:prstGeom>
          <a:solidFill>
            <a:srgbClr val="8b5cf6">
              <a:alpha val="25000"/>
            </a:srgbClr>
          </a:solidFill>
          <a:ln w="12700">
            <a:solidFill>
              <a:srgbClr val="8b5cf6"/>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62" name="Text 17"/>
          <p:cNvSpPr/>
          <p:nvPr/>
        </p:nvSpPr>
        <p:spPr>
          <a:xfrm>
            <a:off x="1609200" y="1920240"/>
            <a:ext cx="51386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8b5cf6"/>
                </a:solidFill>
                <a:effectLst/>
                <a:uFillTx/>
                <a:latin typeface="Calibri"/>
              </a:rPr>
              <a:t>P2  Causal embedding (research thread)</a:t>
            </a:r>
            <a:endParaRPr lang="en-US" sz="900" b="0" u="none" strike="noStrike">
              <a:solidFill>
                <a:srgbClr val="ffffff"/>
              </a:solidFill>
              <a:effectLst/>
              <a:uFillTx/>
              <a:latin typeface="Arial"/>
            </a:endParaRPr>
          </a:p>
        </p:txBody>
      </p:sp>
      <p:sp>
        <p:nvSpPr>
          <p:cNvPr id="263" name="Shape 18"/>
          <p:cNvSpPr/>
          <p:nvPr/>
        </p:nvSpPr>
        <p:spPr>
          <a:xfrm>
            <a:off x="731520" y="2697480"/>
            <a:ext cx="723960" cy="383760"/>
          </a:xfrm>
          <a:prstGeom prst="rect">
            <a:avLst/>
          </a:prstGeom>
          <a:solidFill>
            <a:srgbClr val="028090">
              <a:alpha val="12000"/>
            </a:srgbClr>
          </a:solidFill>
          <a:ln w="19050">
            <a:solidFill>
              <a:srgbClr val="028090"/>
            </a:solidFill>
            <a:prstDash val="dash"/>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64" name="Text 19"/>
          <p:cNvSpPr/>
          <p:nvPr/>
        </p:nvSpPr>
        <p:spPr>
          <a:xfrm>
            <a:off x="804600" y="2697480"/>
            <a:ext cx="6325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028090"/>
                </a:solidFill>
                <a:effectLst/>
                <a:uFillTx/>
                <a:latin typeface="Calibri"/>
              </a:rPr>
              <a:t>P1 gate experiment</a:t>
            </a:r>
            <a:endParaRPr lang="en-US" sz="900" b="0" u="none" strike="noStrike">
              <a:solidFill>
                <a:srgbClr val="ffffff"/>
              </a:solidFill>
              <a:effectLst/>
              <a:uFillTx/>
              <a:latin typeface="Arial"/>
            </a:endParaRPr>
          </a:p>
        </p:txBody>
      </p:sp>
      <p:sp>
        <p:nvSpPr>
          <p:cNvPr id="265" name="Shape 20"/>
          <p:cNvSpPr/>
          <p:nvPr/>
        </p:nvSpPr>
        <p:spPr>
          <a:xfrm>
            <a:off x="3950280" y="2697480"/>
            <a:ext cx="4425480" cy="383760"/>
          </a:xfrm>
          <a:prstGeom prst="rect">
            <a:avLst/>
          </a:prstGeom>
          <a:solidFill>
            <a:srgbClr val="028090">
              <a:alpha val="25000"/>
            </a:srgbClr>
          </a:solidFill>
          <a:ln w="12700">
            <a:solidFill>
              <a:srgbClr val="028090"/>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66" name="Text 21"/>
          <p:cNvSpPr/>
          <p:nvPr/>
        </p:nvSpPr>
        <p:spPr>
          <a:xfrm>
            <a:off x="4023360" y="2697480"/>
            <a:ext cx="43340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028090"/>
                </a:solidFill>
                <a:effectLst/>
                <a:uFillTx/>
                <a:latin typeface="Calibri"/>
              </a:rPr>
              <a:t>P1  Cluster deep models (full build)</a:t>
            </a:r>
            <a:endParaRPr lang="en-US" sz="900" b="0" u="none" strike="noStrike">
              <a:solidFill>
                <a:srgbClr val="ffffff"/>
              </a:solidFill>
              <a:effectLst/>
              <a:uFillTx/>
              <a:latin typeface="Arial"/>
            </a:endParaRPr>
          </a:p>
        </p:txBody>
      </p:sp>
      <p:sp>
        <p:nvSpPr>
          <p:cNvPr id="267" name="Shape 22"/>
          <p:cNvSpPr/>
          <p:nvPr/>
        </p:nvSpPr>
        <p:spPr>
          <a:xfrm>
            <a:off x="3483720" y="1271160"/>
            <a:ext cx="127800" cy="127800"/>
          </a:xfrm>
          <a:prstGeom prst="ellipse">
            <a:avLst/>
          </a:prstGeom>
          <a:solidFill>
            <a:srgbClr val="e8a838"/>
          </a:solidFill>
          <a:ln w="12700">
            <a:solidFill>
              <a:srgbClr val="e8a838"/>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268" name="Shape 23"/>
          <p:cNvSpPr/>
          <p:nvPr/>
        </p:nvSpPr>
        <p:spPr>
          <a:xfrm>
            <a:off x="3886200" y="2825640"/>
            <a:ext cx="127800" cy="127800"/>
          </a:xfrm>
          <a:prstGeom prst="ellipse">
            <a:avLst/>
          </a:prstGeom>
          <a:solidFill>
            <a:srgbClr val="028090"/>
          </a:solidFill>
          <a:ln w="12700">
            <a:solidFill>
              <a:srgbClr val="028090"/>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69" name="Shape 24"/>
          <p:cNvSpPr/>
          <p:nvPr/>
        </p:nvSpPr>
        <p:spPr>
          <a:xfrm>
            <a:off x="365760" y="3218760"/>
            <a:ext cx="2742840" cy="1737000"/>
          </a:xfrm>
          <a:prstGeom prst="rect">
            <a:avLst/>
          </a:prstGeom>
          <a:solidFill>
            <a:srgbClr val="161b22"/>
          </a:solidFill>
          <a:ln w="6350">
            <a:solidFill>
              <a:srgbClr val="e8a838"/>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70" name="Shape 25"/>
          <p:cNvSpPr/>
          <p:nvPr/>
        </p:nvSpPr>
        <p:spPr>
          <a:xfrm>
            <a:off x="365760" y="3218760"/>
            <a:ext cx="45360" cy="1737000"/>
          </a:xfrm>
          <a:prstGeom prst="rect">
            <a:avLst/>
          </a:prstGeom>
          <a:solidFill>
            <a:srgbClr val="e8a838"/>
          </a:solidFill>
          <a:ln w="12700">
            <a:solidFill>
              <a:srgbClr val="e8a838"/>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271" name="Text 26"/>
          <p:cNvSpPr/>
          <p:nvPr/>
        </p:nvSpPr>
        <p:spPr>
          <a:xfrm>
            <a:off x="502920" y="3273480"/>
            <a:ext cx="2514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1" u="none" strike="noStrike">
                <a:solidFill>
                  <a:srgbClr val="e8a838"/>
                </a:solidFill>
                <a:effectLst/>
                <a:uFillTx/>
                <a:latin typeface="Calibri"/>
              </a:rPr>
              <a:t>P3 → P1 (surfaces the scaling need)</a:t>
            </a:r>
            <a:endParaRPr lang="en-US" sz="950" b="0" u="none" strike="noStrike">
              <a:solidFill>
                <a:srgbClr val="ffffff"/>
              </a:solidFill>
              <a:effectLst/>
              <a:uFillTx/>
              <a:latin typeface="Arial"/>
            </a:endParaRPr>
          </a:p>
        </p:txBody>
      </p:sp>
      <p:sp>
        <p:nvSpPr>
          <p:cNvPr id="272" name="Text 27"/>
          <p:cNvSpPr/>
          <p:nvPr/>
        </p:nvSpPr>
        <p:spPr>
          <a:xfrm>
            <a:off x="502920" y="3584520"/>
            <a:ext cx="2514240" cy="1298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900" b="0" u="none" strike="noStrike">
                <a:solidFill>
                  <a:srgbClr val="e6edf3"/>
                </a:solidFill>
                <a:effectLst/>
                <a:uFillTx/>
                <a:latin typeface="Calibri"/>
              </a:rPr>
              <a:t>P3's scenario engine proves value with 10–20 SKUs per client. As clients grow to 100–1000 SKUs, the analyst bottleneck becomes the hard constraint. P1 is the answer. P3 creates the commercial pressure that justifies P1.</a:t>
            </a:r>
            <a:endParaRPr lang="en-US" sz="900" b="0" u="none" strike="noStrike">
              <a:solidFill>
                <a:srgbClr val="ffffff"/>
              </a:solidFill>
              <a:effectLst/>
              <a:uFillTx/>
              <a:latin typeface="Arial"/>
            </a:endParaRPr>
          </a:p>
        </p:txBody>
      </p:sp>
      <p:sp>
        <p:nvSpPr>
          <p:cNvPr id="273" name="Shape 28"/>
          <p:cNvSpPr/>
          <p:nvPr/>
        </p:nvSpPr>
        <p:spPr>
          <a:xfrm>
            <a:off x="3246120" y="3218760"/>
            <a:ext cx="2742840" cy="1737000"/>
          </a:xfrm>
          <a:prstGeom prst="rect">
            <a:avLst/>
          </a:prstGeom>
          <a:solidFill>
            <a:srgbClr val="161b22"/>
          </a:solidFill>
          <a:ln w="6350">
            <a:solidFill>
              <a:srgbClr val="8b5cf6"/>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74" name="Shape 29"/>
          <p:cNvSpPr/>
          <p:nvPr/>
        </p:nvSpPr>
        <p:spPr>
          <a:xfrm>
            <a:off x="3246120" y="3218760"/>
            <a:ext cx="45360" cy="1737000"/>
          </a:xfrm>
          <a:prstGeom prst="rect">
            <a:avLst/>
          </a:prstGeom>
          <a:solidFill>
            <a:srgbClr val="8b5cf6"/>
          </a:solidFill>
          <a:ln w="12700">
            <a:solidFill>
              <a:srgbClr val="8b5cf6"/>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75" name="Text 30"/>
          <p:cNvSpPr/>
          <p:nvPr/>
        </p:nvSpPr>
        <p:spPr>
          <a:xfrm>
            <a:off x="3383280" y="3273480"/>
            <a:ext cx="2514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1" u="none" strike="noStrike">
                <a:solidFill>
                  <a:srgbClr val="8b5cf6"/>
                </a:solidFill>
                <a:effectLst/>
                <a:uFillTx/>
                <a:latin typeface="Calibri"/>
              </a:rPr>
              <a:t>P2 → P1 (covariate layer upgrade)</a:t>
            </a:r>
            <a:endParaRPr lang="en-US" sz="950" b="0" u="none" strike="noStrike">
              <a:solidFill>
                <a:srgbClr val="ffffff"/>
              </a:solidFill>
              <a:effectLst/>
              <a:uFillTx/>
              <a:latin typeface="Arial"/>
            </a:endParaRPr>
          </a:p>
        </p:txBody>
      </p:sp>
      <p:sp>
        <p:nvSpPr>
          <p:cNvPr id="276" name="Text 31"/>
          <p:cNvSpPr/>
          <p:nvPr/>
        </p:nvSpPr>
        <p:spPr>
          <a:xfrm>
            <a:off x="3383280" y="3584520"/>
            <a:ext cx="2514240" cy="1298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900" b="0" u="none" strike="noStrike">
                <a:solidFill>
                  <a:srgbClr val="e6edf3"/>
                </a:solidFill>
                <a:effectLst/>
                <a:uFillTx/>
                <a:latin typeface="Calibri"/>
              </a:rPr>
              <a:t>P1 built with DTW-symmetric covariate embeddings is good. P1 built with P2's causal embeddings — where z_cov encodes directed influence — is materially better. P2 ships as a research thread first; P1's full build starts when P2's covariate retrieval is validated.</a:t>
            </a:r>
            <a:endParaRPr lang="en-US" sz="900" b="0" u="none" strike="noStrike">
              <a:solidFill>
                <a:srgbClr val="ffffff"/>
              </a:solidFill>
              <a:effectLst/>
              <a:uFillTx/>
              <a:latin typeface="Arial"/>
            </a:endParaRPr>
          </a:p>
        </p:txBody>
      </p:sp>
      <p:sp>
        <p:nvSpPr>
          <p:cNvPr id="277" name="Shape 32"/>
          <p:cNvSpPr/>
          <p:nvPr/>
        </p:nvSpPr>
        <p:spPr>
          <a:xfrm>
            <a:off x="6126480" y="3218760"/>
            <a:ext cx="2742840" cy="1737000"/>
          </a:xfrm>
          <a:prstGeom prst="rect">
            <a:avLst/>
          </a:prstGeom>
          <a:solidFill>
            <a:srgbClr val="161b22"/>
          </a:solidFill>
          <a:ln w="6350">
            <a:solidFill>
              <a:srgbClr val="028090"/>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78" name="Shape 33"/>
          <p:cNvSpPr/>
          <p:nvPr/>
        </p:nvSpPr>
        <p:spPr>
          <a:xfrm>
            <a:off x="6126480" y="3218760"/>
            <a:ext cx="45360" cy="1737000"/>
          </a:xfrm>
          <a:prstGeom prst="rect">
            <a:avLst/>
          </a:prstGeom>
          <a:solidFill>
            <a:srgbClr val="028090"/>
          </a:solidFill>
          <a:ln w="12700">
            <a:solidFill>
              <a:srgbClr val="028090"/>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79" name="Text 34"/>
          <p:cNvSpPr/>
          <p:nvPr/>
        </p:nvSpPr>
        <p:spPr>
          <a:xfrm>
            <a:off x="6263640" y="3273480"/>
            <a:ext cx="2514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1" u="none" strike="noStrike">
                <a:solidFill>
                  <a:srgbClr val="028090"/>
                </a:solidFill>
                <a:effectLst/>
                <a:uFillTx/>
                <a:latin typeface="Calibri"/>
              </a:rPr>
              <a:t>P1 → P2 (downstream validation)</a:t>
            </a:r>
            <a:endParaRPr lang="en-US" sz="950" b="0" u="none" strike="noStrike">
              <a:solidFill>
                <a:srgbClr val="ffffff"/>
              </a:solidFill>
              <a:effectLst/>
              <a:uFillTx/>
              <a:latin typeface="Arial"/>
            </a:endParaRPr>
          </a:p>
        </p:txBody>
      </p:sp>
      <p:sp>
        <p:nvSpPr>
          <p:cNvPr id="280" name="Text 35"/>
          <p:cNvSpPr/>
          <p:nvPr/>
        </p:nvSpPr>
        <p:spPr>
          <a:xfrm>
            <a:off x="6263640" y="3584520"/>
            <a:ext cx="2514240" cy="1298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900" b="0" u="none" strike="noStrike">
                <a:solidFill>
                  <a:srgbClr val="e6edf3"/>
                </a:solidFill>
                <a:effectLst/>
                <a:uFillTx/>
                <a:latin typeface="Calibri"/>
              </a:rPr>
              <a:t>P2 needs a forecasting task to evaluate against beyond ranking metrics. P1's cluster model provides exactly that: did causal covariate retrieval improve cluster model accuracy on held-out series? Cleaner than ranking-only evaluation.</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281" name="Shape 0"/>
          <p:cNvSpPr/>
          <p:nvPr/>
        </p:nvSpPr>
        <p:spPr>
          <a:xfrm>
            <a:off x="0" y="0"/>
            <a:ext cx="4205880" cy="5143320"/>
          </a:xfrm>
          <a:prstGeom prst="rect">
            <a:avLst/>
          </a:prstGeom>
          <a:solidFill>
            <a:srgbClr val="0a0e14"/>
          </a:solidFill>
          <a:ln w="12700">
            <a:solidFill>
              <a:srgbClr val="0a0e14"/>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82" name="Shape 1"/>
          <p:cNvSpPr/>
          <p:nvPr/>
        </p:nvSpPr>
        <p:spPr>
          <a:xfrm>
            <a:off x="4206240" y="0"/>
            <a:ext cx="36360" cy="5143320"/>
          </a:xfrm>
          <a:prstGeom prst="rect">
            <a:avLst/>
          </a:prstGeom>
          <a:solidFill>
            <a:srgbClr val="028090"/>
          </a:solidFill>
          <a:ln w="12700">
            <a:solidFill>
              <a:srgbClr val="028090"/>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83" name="Text 2"/>
          <p:cNvSpPr/>
          <p:nvPr/>
        </p:nvSpPr>
        <p:spPr>
          <a:xfrm>
            <a:off x="365760" y="457200"/>
            <a:ext cx="35658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rPr>
              <a:t>Decision</a:t>
            </a:r>
            <a:endParaRPr lang="en-US" sz="2800" b="0" u="none" strike="noStrike">
              <a:solidFill>
                <a:srgbClr val="ffffff"/>
              </a:solidFill>
              <a:effectLst/>
              <a:uFillTx/>
              <a:latin typeface="Arial"/>
            </a:endParaRPr>
          </a:p>
        </p:txBody>
      </p:sp>
      <p:sp>
        <p:nvSpPr>
          <p:cNvPr id="284" name="Text 3"/>
          <p:cNvSpPr/>
          <p:nvPr/>
        </p:nvSpPr>
        <p:spPr>
          <a:xfrm>
            <a:off x="365760" y="914400"/>
            <a:ext cx="356580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0" u="none" strike="noStrike">
                <a:solidFill>
                  <a:srgbClr val="8b949e"/>
                </a:solidFill>
                <a:effectLst/>
                <a:uFillTx/>
                <a:latin typeface="Calibri"/>
              </a:rPr>
              <a:t>Recommended path</a:t>
            </a:r>
            <a:endParaRPr lang="en-US" sz="1200" b="0" u="none" strike="noStrike">
              <a:solidFill>
                <a:srgbClr val="ffffff"/>
              </a:solidFill>
              <a:effectLst/>
              <a:uFillTx/>
              <a:latin typeface="Arial"/>
            </a:endParaRPr>
          </a:p>
        </p:txBody>
      </p:sp>
      <p:sp>
        <p:nvSpPr>
          <p:cNvPr id="285" name="Shape 4"/>
          <p:cNvSpPr/>
          <p:nvPr/>
        </p:nvSpPr>
        <p:spPr>
          <a:xfrm>
            <a:off x="365760" y="1325880"/>
            <a:ext cx="328680" cy="328680"/>
          </a:xfrm>
          <a:prstGeom prst="ellipse">
            <a:avLst/>
          </a:prstGeom>
          <a:solidFill>
            <a:srgbClr val="e8a838">
              <a:alpha val="80000"/>
            </a:srgbClr>
          </a:solidFill>
          <a:ln w="6350">
            <a:solidFill>
              <a:srgbClr val="e8a838"/>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286" name="Text 5"/>
          <p:cNvSpPr/>
          <p:nvPr/>
        </p:nvSpPr>
        <p:spPr>
          <a:xfrm>
            <a:off x="365760" y="132588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200" b="1" u="none" strike="noStrike">
                <a:solidFill>
                  <a:srgbClr val="e8a838"/>
                </a:solidFill>
                <a:effectLst/>
                <a:uFillTx/>
                <a:latin typeface="Calibri"/>
              </a:rPr>
              <a:t>1</a:t>
            </a:r>
            <a:endParaRPr lang="en-US" sz="1200" b="0" u="none" strike="noStrike">
              <a:solidFill>
                <a:srgbClr val="ffffff"/>
              </a:solidFill>
              <a:effectLst/>
              <a:uFillTx/>
              <a:latin typeface="Arial"/>
            </a:endParaRPr>
          </a:p>
        </p:txBody>
      </p:sp>
      <p:sp>
        <p:nvSpPr>
          <p:cNvPr id="287" name="Text 6"/>
          <p:cNvSpPr/>
          <p:nvPr/>
        </p:nvSpPr>
        <p:spPr>
          <a:xfrm>
            <a:off x="804600" y="1325880"/>
            <a:ext cx="320004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e6edf3"/>
                </a:solidFill>
                <a:effectLst/>
                <a:uFillTx/>
                <a:latin typeface="Calibri"/>
              </a:rPr>
              <a:t>Start P3 now. Ships in 2–4 months, closes top customer pain, activates CPO's priority PRD.</a:t>
            </a:r>
            <a:endParaRPr lang="en-US" sz="950" b="0" u="none" strike="noStrike">
              <a:solidFill>
                <a:srgbClr val="ffffff"/>
              </a:solidFill>
              <a:effectLst/>
              <a:uFillTx/>
              <a:latin typeface="Arial"/>
            </a:endParaRPr>
          </a:p>
        </p:txBody>
      </p:sp>
      <p:sp>
        <p:nvSpPr>
          <p:cNvPr id="288" name="Shape 7"/>
          <p:cNvSpPr/>
          <p:nvPr/>
        </p:nvSpPr>
        <p:spPr>
          <a:xfrm>
            <a:off x="365760" y="2221920"/>
            <a:ext cx="328680" cy="328680"/>
          </a:xfrm>
          <a:prstGeom prst="ellipse">
            <a:avLst/>
          </a:prstGeom>
          <a:solidFill>
            <a:srgbClr val="028090">
              <a:alpha val="80000"/>
            </a:srgbClr>
          </a:solidFill>
          <a:ln w="6350">
            <a:solidFill>
              <a:srgbClr val="028090"/>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89" name="Text 8"/>
          <p:cNvSpPr/>
          <p:nvPr/>
        </p:nvSpPr>
        <p:spPr>
          <a:xfrm>
            <a:off x="365760" y="222192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200" b="1" u="none" strike="noStrike">
                <a:solidFill>
                  <a:srgbClr val="028090"/>
                </a:solidFill>
                <a:effectLst/>
                <a:uFillTx/>
                <a:latin typeface="Calibri"/>
              </a:rPr>
              <a:t>2</a:t>
            </a:r>
            <a:endParaRPr lang="en-US" sz="1200" b="0" u="none" strike="noStrike">
              <a:solidFill>
                <a:srgbClr val="ffffff"/>
              </a:solidFill>
              <a:effectLst/>
              <a:uFillTx/>
              <a:latin typeface="Arial"/>
            </a:endParaRPr>
          </a:p>
        </p:txBody>
      </p:sp>
      <p:sp>
        <p:nvSpPr>
          <p:cNvPr id="290" name="Text 9"/>
          <p:cNvSpPr/>
          <p:nvPr/>
        </p:nvSpPr>
        <p:spPr>
          <a:xfrm>
            <a:off x="804600" y="2221920"/>
            <a:ext cx="320004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e6edf3"/>
                </a:solidFill>
                <a:effectLst/>
                <a:uFillTx/>
                <a:latin typeface="Calibri"/>
              </a:rPr>
              <a:t>Run P1 gate experiment in parallel (2–3 weeks). Validates cluster quality before committing engineering bandwidth.</a:t>
            </a:r>
            <a:endParaRPr lang="en-US" sz="950" b="0" u="none" strike="noStrike">
              <a:solidFill>
                <a:srgbClr val="ffffff"/>
              </a:solidFill>
              <a:effectLst/>
              <a:uFillTx/>
              <a:latin typeface="Arial"/>
            </a:endParaRPr>
          </a:p>
        </p:txBody>
      </p:sp>
      <p:sp>
        <p:nvSpPr>
          <p:cNvPr id="291" name="Shape 10"/>
          <p:cNvSpPr/>
          <p:nvPr/>
        </p:nvSpPr>
        <p:spPr>
          <a:xfrm>
            <a:off x="365760" y="3117960"/>
            <a:ext cx="328680" cy="328680"/>
          </a:xfrm>
          <a:prstGeom prst="ellipse">
            <a:avLst/>
          </a:prstGeom>
          <a:solidFill>
            <a:srgbClr val="8b5cf6">
              <a:alpha val="80000"/>
            </a:srgbClr>
          </a:solidFill>
          <a:ln w="6350">
            <a:solidFill>
              <a:srgbClr val="8b5cf6"/>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92" name="Text 11"/>
          <p:cNvSpPr/>
          <p:nvPr/>
        </p:nvSpPr>
        <p:spPr>
          <a:xfrm>
            <a:off x="365760" y="311796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200" b="1" u="none" strike="noStrike">
                <a:solidFill>
                  <a:srgbClr val="8b5cf6"/>
                </a:solidFill>
                <a:effectLst/>
                <a:uFillTx/>
                <a:latin typeface="Calibri"/>
              </a:rPr>
              <a:t>3</a:t>
            </a:r>
            <a:endParaRPr lang="en-US" sz="1200" b="0" u="none" strike="noStrike">
              <a:solidFill>
                <a:srgbClr val="ffffff"/>
              </a:solidFill>
              <a:effectLst/>
              <a:uFillTx/>
              <a:latin typeface="Arial"/>
            </a:endParaRPr>
          </a:p>
        </p:txBody>
      </p:sp>
      <p:sp>
        <p:nvSpPr>
          <p:cNvPr id="293" name="Text 12"/>
          <p:cNvSpPr/>
          <p:nvPr/>
        </p:nvSpPr>
        <p:spPr>
          <a:xfrm>
            <a:off x="804600" y="3117960"/>
            <a:ext cx="320004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e6edf3"/>
                </a:solidFill>
                <a:effectLst/>
                <a:uFillTx/>
                <a:latin typeface="Calibri"/>
              </a:rPr>
              <a:t>Launch P2 as a research thread alongside P3. One researcher, distillation approach. De-risks the novel embedding objective without blocking delivery.</a:t>
            </a:r>
            <a:endParaRPr lang="en-US" sz="950" b="0" u="none" strike="noStrike">
              <a:solidFill>
                <a:srgbClr val="ffffff"/>
              </a:solidFill>
              <a:effectLst/>
              <a:uFillTx/>
              <a:latin typeface="Arial"/>
            </a:endParaRPr>
          </a:p>
        </p:txBody>
      </p:sp>
      <p:sp>
        <p:nvSpPr>
          <p:cNvPr id="294" name="Shape 13"/>
          <p:cNvSpPr/>
          <p:nvPr/>
        </p:nvSpPr>
        <p:spPr>
          <a:xfrm>
            <a:off x="365760" y="4014360"/>
            <a:ext cx="328680" cy="328680"/>
          </a:xfrm>
          <a:prstGeom prst="ellipse">
            <a:avLst/>
          </a:prstGeom>
          <a:solidFill>
            <a:srgbClr val="028090">
              <a:alpha val="80000"/>
            </a:srgbClr>
          </a:solidFill>
          <a:ln w="6350">
            <a:solidFill>
              <a:srgbClr val="028090"/>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95" name="Text 14"/>
          <p:cNvSpPr/>
          <p:nvPr/>
        </p:nvSpPr>
        <p:spPr>
          <a:xfrm>
            <a:off x="365760" y="401436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200" b="1" u="none" strike="noStrike">
                <a:solidFill>
                  <a:srgbClr val="028090"/>
                </a:solidFill>
                <a:effectLst/>
                <a:uFillTx/>
                <a:latin typeface="Calibri"/>
              </a:rPr>
              <a:t>4</a:t>
            </a:r>
            <a:endParaRPr lang="en-US" sz="1200" b="0" u="none" strike="noStrike">
              <a:solidFill>
                <a:srgbClr val="ffffff"/>
              </a:solidFill>
              <a:effectLst/>
              <a:uFillTx/>
              <a:latin typeface="Arial"/>
            </a:endParaRPr>
          </a:p>
        </p:txBody>
      </p:sp>
      <p:sp>
        <p:nvSpPr>
          <p:cNvPr id="296" name="Text 15"/>
          <p:cNvSpPr/>
          <p:nvPr/>
        </p:nvSpPr>
        <p:spPr>
          <a:xfrm>
            <a:off x="804600" y="4014360"/>
            <a:ext cx="320004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e6edf3"/>
                </a:solidFill>
                <a:effectLst/>
                <a:uFillTx/>
                <a:latin typeface="Calibri"/>
              </a:rPr>
              <a:t>P1 full build starts ~month 4–5, once P3 ships and P2's covariate retrieval is validated. Launches with the full causal covariate mechanism.</a:t>
            </a:r>
            <a:endParaRPr lang="en-US" sz="950" b="0" u="none" strike="noStrike">
              <a:solidFill>
                <a:srgbClr val="ffffff"/>
              </a:solidFill>
              <a:effectLst/>
              <a:uFillTx/>
              <a:latin typeface="Arial"/>
            </a:endParaRPr>
          </a:p>
        </p:txBody>
      </p:sp>
      <p:sp>
        <p:nvSpPr>
          <p:cNvPr id="297" name="Text 16"/>
          <p:cNvSpPr/>
          <p:nvPr/>
        </p:nvSpPr>
        <p:spPr>
          <a:xfrm>
            <a:off x="4434840" y="457200"/>
            <a:ext cx="438876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ffffff"/>
                </a:solidFill>
                <a:effectLst/>
                <a:uFillTx/>
                <a:latin typeface="Calibri"/>
              </a:rPr>
              <a:t>Open questions for discussion</a:t>
            </a:r>
            <a:endParaRPr lang="en-US" sz="1600" b="0" u="none" strike="noStrike">
              <a:solidFill>
                <a:srgbClr val="ffffff"/>
              </a:solidFill>
              <a:effectLst/>
              <a:uFillTx/>
              <a:latin typeface="Arial"/>
            </a:endParaRPr>
          </a:p>
        </p:txBody>
      </p:sp>
      <p:sp>
        <p:nvSpPr>
          <p:cNvPr id="298" name="Shape 17"/>
          <p:cNvSpPr/>
          <p:nvPr/>
        </p:nvSpPr>
        <p:spPr>
          <a:xfrm>
            <a:off x="4434840" y="987480"/>
            <a:ext cx="4388760" cy="712800"/>
          </a:xfrm>
          <a:prstGeom prst="rect">
            <a:avLst/>
          </a:prstGeom>
          <a:solidFill>
            <a:srgbClr val="161b22"/>
          </a:solidFill>
          <a:ln w="6350">
            <a:solidFill>
              <a:srgbClr val="21262d"/>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99" name="Shape 18"/>
          <p:cNvSpPr/>
          <p:nvPr/>
        </p:nvSpPr>
        <p:spPr>
          <a:xfrm>
            <a:off x="4434840" y="987480"/>
            <a:ext cx="45360" cy="712800"/>
          </a:xfrm>
          <a:prstGeom prst="rect">
            <a:avLst/>
          </a:prstGeom>
          <a:solidFill>
            <a:srgbClr val="21262d"/>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00" name="Text 19"/>
          <p:cNvSpPr/>
          <p:nvPr/>
        </p:nvSpPr>
        <p:spPr>
          <a:xfrm>
            <a:off x="4617720" y="1042560"/>
            <a:ext cx="40230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028090"/>
                </a:solidFill>
                <a:effectLst/>
                <a:uFillTx/>
                <a:latin typeface="Calibri"/>
              </a:rPr>
              <a:t>P1 cluster quality</a:t>
            </a:r>
            <a:endParaRPr lang="en-US" sz="1000" b="0" u="none" strike="noStrike">
              <a:solidFill>
                <a:srgbClr val="ffffff"/>
              </a:solidFill>
              <a:effectLst/>
              <a:uFillTx/>
              <a:latin typeface="Arial"/>
            </a:endParaRPr>
          </a:p>
        </p:txBody>
      </p:sp>
      <p:sp>
        <p:nvSpPr>
          <p:cNvPr id="301" name="Text 20"/>
          <p:cNvSpPr/>
          <p:nvPr/>
        </p:nvSpPr>
        <p:spPr>
          <a:xfrm>
            <a:off x="4617720" y="1261800"/>
            <a:ext cx="40230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900" b="0" u="none" strike="noStrike">
                <a:solidFill>
                  <a:srgbClr val="8b949e"/>
                </a:solidFill>
                <a:effectLst/>
                <a:uFillTx/>
                <a:latin typeface="Calibri"/>
              </a:rPr>
              <a:t>Do we run the gate experiment before this meeting, or is the discussion sufficient to commit? Who owns the 2–3 week experiment?</a:t>
            </a:r>
            <a:endParaRPr lang="en-US" sz="900" b="0" u="none" strike="noStrike">
              <a:solidFill>
                <a:srgbClr val="ffffff"/>
              </a:solidFill>
              <a:effectLst/>
              <a:uFillTx/>
              <a:latin typeface="Arial"/>
            </a:endParaRPr>
          </a:p>
        </p:txBody>
      </p:sp>
      <p:sp>
        <p:nvSpPr>
          <p:cNvPr id="302" name="Shape 21"/>
          <p:cNvSpPr/>
          <p:nvPr/>
        </p:nvSpPr>
        <p:spPr>
          <a:xfrm>
            <a:off x="4434840" y="1783080"/>
            <a:ext cx="4388760" cy="712800"/>
          </a:xfrm>
          <a:prstGeom prst="rect">
            <a:avLst/>
          </a:prstGeom>
          <a:solidFill>
            <a:srgbClr val="161b22"/>
          </a:solidFill>
          <a:ln w="6350">
            <a:solidFill>
              <a:srgbClr val="21262d"/>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03" name="Shape 22"/>
          <p:cNvSpPr/>
          <p:nvPr/>
        </p:nvSpPr>
        <p:spPr>
          <a:xfrm>
            <a:off x="4434840" y="1783080"/>
            <a:ext cx="45360" cy="712800"/>
          </a:xfrm>
          <a:prstGeom prst="rect">
            <a:avLst/>
          </a:prstGeom>
          <a:solidFill>
            <a:srgbClr val="21262d"/>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04" name="Text 23"/>
          <p:cNvSpPr/>
          <p:nvPr/>
        </p:nvSpPr>
        <p:spPr>
          <a:xfrm>
            <a:off x="4617720" y="1837800"/>
            <a:ext cx="40230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028090"/>
                </a:solidFill>
                <a:effectLst/>
                <a:uFillTx/>
                <a:latin typeface="Calibri"/>
              </a:rPr>
              <a:t>P2 research allocation</a:t>
            </a:r>
            <a:endParaRPr lang="en-US" sz="1000" b="0" u="none" strike="noStrike">
              <a:solidFill>
                <a:srgbClr val="ffffff"/>
              </a:solidFill>
              <a:effectLst/>
              <a:uFillTx/>
              <a:latin typeface="Arial"/>
            </a:endParaRPr>
          </a:p>
        </p:txBody>
      </p:sp>
      <p:sp>
        <p:nvSpPr>
          <p:cNvPr id="305" name="Text 24"/>
          <p:cNvSpPr/>
          <p:nvPr/>
        </p:nvSpPr>
        <p:spPr>
          <a:xfrm>
            <a:off x="4617720" y="2057400"/>
            <a:ext cx="40230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900" b="0" u="none" strike="noStrike">
                <a:solidFill>
                  <a:srgbClr val="8b949e"/>
                </a:solidFill>
                <a:effectLst/>
                <a:uFillTx/>
                <a:latin typeface="Calibri"/>
              </a:rPr>
              <a:t>Is there a dedicated researcher who can own the causal embedding objective as a parallel track, or does this wait until P3 ships?</a:t>
            </a:r>
            <a:endParaRPr lang="en-US" sz="900" b="0" u="none" strike="noStrike">
              <a:solidFill>
                <a:srgbClr val="ffffff"/>
              </a:solidFill>
              <a:effectLst/>
              <a:uFillTx/>
              <a:latin typeface="Arial"/>
            </a:endParaRPr>
          </a:p>
        </p:txBody>
      </p:sp>
      <p:sp>
        <p:nvSpPr>
          <p:cNvPr id="306" name="Shape 25"/>
          <p:cNvSpPr/>
          <p:nvPr/>
        </p:nvSpPr>
        <p:spPr>
          <a:xfrm>
            <a:off x="4434840" y="2578680"/>
            <a:ext cx="4388760" cy="712800"/>
          </a:xfrm>
          <a:prstGeom prst="rect">
            <a:avLst/>
          </a:prstGeom>
          <a:solidFill>
            <a:srgbClr val="161b22"/>
          </a:solidFill>
          <a:ln w="6350">
            <a:solidFill>
              <a:srgbClr val="21262d"/>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07" name="Shape 26"/>
          <p:cNvSpPr/>
          <p:nvPr/>
        </p:nvSpPr>
        <p:spPr>
          <a:xfrm>
            <a:off x="4434840" y="2578680"/>
            <a:ext cx="45360" cy="712800"/>
          </a:xfrm>
          <a:prstGeom prst="rect">
            <a:avLst/>
          </a:prstGeom>
          <a:solidFill>
            <a:srgbClr val="21262d"/>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08" name="Text 27"/>
          <p:cNvSpPr/>
          <p:nvPr/>
        </p:nvSpPr>
        <p:spPr>
          <a:xfrm>
            <a:off x="4617720" y="2633400"/>
            <a:ext cx="40230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028090"/>
                </a:solidFill>
                <a:effectLst/>
                <a:uFillTx/>
                <a:latin typeface="Calibri"/>
              </a:rPr>
              <a:t>P1 architecture decision</a:t>
            </a:r>
            <a:endParaRPr lang="en-US" sz="1000" b="0" u="none" strike="noStrike">
              <a:solidFill>
                <a:srgbClr val="ffffff"/>
              </a:solidFill>
              <a:effectLst/>
              <a:uFillTx/>
              <a:latin typeface="Arial"/>
            </a:endParaRPr>
          </a:p>
        </p:txBody>
      </p:sp>
      <p:sp>
        <p:nvSpPr>
          <p:cNvPr id="309" name="Text 28"/>
          <p:cNvSpPr/>
          <p:nvPr/>
        </p:nvSpPr>
        <p:spPr>
          <a:xfrm>
            <a:off x="4617720" y="2853000"/>
            <a:ext cx="40230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900" b="0" u="none" strike="noStrike">
                <a:solidFill>
                  <a:srgbClr val="8b949e"/>
                </a:solidFill>
                <a:effectLst/>
                <a:uFillTx/>
                <a:latin typeface="Calibri"/>
              </a:rPr>
              <a:t>D-Linear vs MLP backbone — do we prototype both on a single cluster and compare, or commit to one upfront?</a:t>
            </a:r>
            <a:endParaRPr lang="en-US" sz="900" b="0" u="none" strike="noStrike">
              <a:solidFill>
                <a:srgbClr val="ffffff"/>
              </a:solidFill>
              <a:effectLst/>
              <a:uFillTx/>
              <a:latin typeface="Arial"/>
            </a:endParaRPr>
          </a:p>
        </p:txBody>
      </p:sp>
      <p:sp>
        <p:nvSpPr>
          <p:cNvPr id="310" name="Shape 29"/>
          <p:cNvSpPr/>
          <p:nvPr/>
        </p:nvSpPr>
        <p:spPr>
          <a:xfrm>
            <a:off x="4434840" y="3374280"/>
            <a:ext cx="4388760" cy="712800"/>
          </a:xfrm>
          <a:prstGeom prst="rect">
            <a:avLst/>
          </a:prstGeom>
          <a:solidFill>
            <a:srgbClr val="161b22"/>
          </a:solidFill>
          <a:ln w="6350">
            <a:solidFill>
              <a:srgbClr val="21262d"/>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11" name="Shape 30"/>
          <p:cNvSpPr/>
          <p:nvPr/>
        </p:nvSpPr>
        <p:spPr>
          <a:xfrm>
            <a:off x="4434840" y="3374280"/>
            <a:ext cx="45360" cy="712800"/>
          </a:xfrm>
          <a:prstGeom prst="rect">
            <a:avLst/>
          </a:prstGeom>
          <a:solidFill>
            <a:srgbClr val="21262d"/>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12" name="Text 31"/>
          <p:cNvSpPr/>
          <p:nvPr/>
        </p:nvSpPr>
        <p:spPr>
          <a:xfrm>
            <a:off x="4617720" y="3429000"/>
            <a:ext cx="40230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028090"/>
                </a:solidFill>
                <a:effectLst/>
                <a:uFillTx/>
                <a:latin typeface="Calibri"/>
              </a:rPr>
              <a:t>Benchmark strategy</a:t>
            </a:r>
            <a:endParaRPr lang="en-US" sz="1000" b="0" u="none" strike="noStrike">
              <a:solidFill>
                <a:srgbClr val="ffffff"/>
              </a:solidFill>
              <a:effectLst/>
              <a:uFillTx/>
              <a:latin typeface="Arial"/>
            </a:endParaRPr>
          </a:p>
        </p:txBody>
      </p:sp>
      <p:sp>
        <p:nvSpPr>
          <p:cNvPr id="313" name="Text 32"/>
          <p:cNvSpPr/>
          <p:nvPr/>
        </p:nvSpPr>
        <p:spPr>
          <a:xfrm>
            <a:off x="4617720" y="3648600"/>
            <a:ext cx="40230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900" b="0" u="none" strike="noStrike">
                <a:solidFill>
                  <a:srgbClr val="8b949e"/>
                </a:solidFill>
                <a:effectLst/>
                <a:uFillTx/>
                <a:latin typeface="Calibri"/>
              </a:rPr>
              <a:t>Do we target M5 and VN2 as part of P1 scope, or treat them as validation-only? A strong VN2 result would be a meaningful external signal.</a:t>
            </a:r>
            <a:endParaRPr lang="en-US" sz="900" b="0" u="none" strike="noStrike">
              <a:solidFill>
                <a:srgbClr val="ffffff"/>
              </a:solidFill>
              <a:effectLst/>
              <a:uFillTx/>
              <a:latin typeface="Arial"/>
            </a:endParaRPr>
          </a:p>
        </p:txBody>
      </p:sp>
      <p:sp>
        <p:nvSpPr>
          <p:cNvPr id="314" name="Shape 33"/>
          <p:cNvSpPr/>
          <p:nvPr/>
        </p:nvSpPr>
        <p:spPr>
          <a:xfrm>
            <a:off x="4434840" y="4169520"/>
            <a:ext cx="4388760" cy="712800"/>
          </a:xfrm>
          <a:prstGeom prst="rect">
            <a:avLst/>
          </a:prstGeom>
          <a:solidFill>
            <a:srgbClr val="161b22"/>
          </a:solidFill>
          <a:ln w="6350">
            <a:solidFill>
              <a:srgbClr val="21262d"/>
            </a:solidFill>
            <a:round/>
          </a:ln>
          <a:effectLst>
            <a:outerShdw algn="bl" blurRad="101520" dir="8100000" dist="25455" kx="0" ky="0" rotWithShape="0" sx="100000" sy="100000">
              <a:srgbClr val="000000">
                <a:alpha val="30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15" name="Shape 34"/>
          <p:cNvSpPr/>
          <p:nvPr/>
        </p:nvSpPr>
        <p:spPr>
          <a:xfrm>
            <a:off x="4434840" y="4169520"/>
            <a:ext cx="45360" cy="712800"/>
          </a:xfrm>
          <a:prstGeom prst="rect">
            <a:avLst/>
          </a:prstGeom>
          <a:solidFill>
            <a:srgbClr val="21262d"/>
          </a:solidFill>
          <a:ln w="12700">
            <a:solidFill>
              <a:srgbClr val="21262d"/>
            </a:solidFill>
            <a:round/>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16" name="Text 35"/>
          <p:cNvSpPr/>
          <p:nvPr/>
        </p:nvSpPr>
        <p:spPr>
          <a:xfrm>
            <a:off x="4617720" y="4224600"/>
            <a:ext cx="40230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028090"/>
                </a:solidFill>
                <a:effectLst/>
                <a:uFillTx/>
                <a:latin typeface="Calibri"/>
              </a:rPr>
              <a:t>P3 scope boundary</a:t>
            </a:r>
            <a:endParaRPr lang="en-US" sz="1000" b="0" u="none" strike="noStrike">
              <a:solidFill>
                <a:srgbClr val="ffffff"/>
              </a:solidFill>
              <a:effectLst/>
              <a:uFillTx/>
              <a:latin typeface="Arial"/>
            </a:endParaRPr>
          </a:p>
        </p:txBody>
      </p:sp>
      <p:sp>
        <p:nvSpPr>
          <p:cNvPr id="317" name="Text 36"/>
          <p:cNvSpPr/>
          <p:nvPr/>
        </p:nvSpPr>
        <p:spPr>
          <a:xfrm>
            <a:off x="4617720" y="4443840"/>
            <a:ext cx="40230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900" b="0" u="none" strike="noStrike">
                <a:solidFill>
                  <a:srgbClr val="8b949e"/>
                </a:solidFill>
                <a:effectLst/>
                <a:uFillTx/>
                <a:latin typeface="Calibri"/>
              </a:rPr>
              <a:t>Do we ship the Bayesian uncertainty layer in the first version, or defer to v2 after validating the deterministic scenario re-run logic first?</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LibreOffice/25.8.6.2$Linux_X86_64 LibreOffice_project/a46b460d1686bb49c718d2ef5f88b83ff2dc4981</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2026-05-07T00:32:37Z</dcterms:created>
  <dc:creator>PptxGenJS</dc:creator>
  <dc:description/>
  <dc:language>en-US</dc:language>
  <cp:lastModifiedBy/>
  <dcterms:modified xsi:type="dcterms:W3CDTF">2026-05-07T01:42:38Z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8</vt:i4>
  </property>
  <property fmtid="{D5CDD505-2E9C-101B-9397-08002B2CF9AE}" pid="3" name="PresentationFormat">
    <vt:lpwstr>On-screen Show (16:9)</vt:lpwstr>
  </property>
  <property fmtid="{D5CDD505-2E9C-101B-9397-08002B2CF9AE}" pid="4" name="Slides">
    <vt:i4>8</vt:i4>
  </property>
</Properties>
</file>